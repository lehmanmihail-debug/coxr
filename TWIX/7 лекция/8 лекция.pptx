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304" r:id="rId12"/>
    <p:sldId id="305" r:id="rId13"/>
    <p:sldId id="306" r:id="rId14"/>
    <p:sldId id="307" r:id="rId15"/>
    <p:sldId id="297" r:id="rId16"/>
    <p:sldId id="298" r:id="rId17"/>
    <p:sldId id="299" r:id="rId18"/>
    <p:sldId id="300" r:id="rId19"/>
    <p:sldId id="302" r:id="rId20"/>
    <p:sldId id="303" r:id="rId21"/>
    <p:sldId id="281" r:id="rId22"/>
    <p:sldId id="288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810" y="-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25732-096D-42B1-89B6-CE64F319AE8C}" type="datetimeFigureOut">
              <a:rPr lang="ru-RU" smtClean="0"/>
              <a:pPr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5E81B-2F19-4525-8158-F1980643834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b="1" dirty="0" smtClean="0"/>
              <a:t>Случайные </a:t>
            </a:r>
            <a:r>
              <a:rPr lang="ru-RU" b="1" dirty="0"/>
              <a:t>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843808" y="3140968"/>
            <a:ext cx="5871596" cy="328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dirty="0">
                <a:solidFill>
                  <a:schemeClr val="tx1"/>
                </a:solidFill>
              </a:rPr>
              <a:t>Случайные </a:t>
            </a:r>
            <a:r>
              <a:rPr lang="ru-RU" sz="2400" b="1" dirty="0" smtClean="0">
                <a:solidFill>
                  <a:schemeClr val="tx1"/>
                </a:solidFill>
              </a:rPr>
              <a:t>величины и их распределения</a:t>
            </a:r>
          </a:p>
          <a:p>
            <a:pPr lvl="0"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Преподаватель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: к.ф.-</a:t>
            </a:r>
            <a:r>
              <a:rPr lang="en-US" sz="2400" b="1" i="0" u="none" strike="noStrike" cap="none" dirty="0" err="1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м.н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. Е.В. </a:t>
            </a:r>
            <a:r>
              <a:rPr lang="en-US" sz="2400" b="1" i="0" u="none" strike="noStrike" cap="none" dirty="0" err="1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Казанцева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ea typeface="PT Sans"/>
              <a:cs typeface="Arial" pitchFamily="34" charset="0"/>
              <a:sym typeface="PT Sans"/>
            </a:endParaRPr>
          </a:p>
          <a:p>
            <a:pPr algn="l">
              <a:lnSpc>
                <a:spcPct val="162162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Дата: </a:t>
            </a: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апрель </a:t>
            </a:r>
            <a:r>
              <a:rPr lang="ru-RU" sz="2400" b="1" i="0" u="none" strike="noStrike" cap="none" dirty="0" smtClean="0">
                <a:solidFill>
                  <a:schemeClr val="tx1"/>
                </a:solidFill>
                <a:latin typeface="+mj-lt"/>
                <a:ea typeface="PT Sans"/>
                <a:cs typeface="Arial" pitchFamily="34" charset="0"/>
                <a:sym typeface="PT Sans"/>
              </a:rPr>
              <a:t>2026</a:t>
            </a:r>
            <a:endParaRPr lang="ru-RU" sz="2400" b="1" i="0" u="none" strike="noStrike" cap="none" dirty="0" smtClean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42852"/>
            <a:ext cx="8572560" cy="1470025"/>
          </a:xfrm>
        </p:spPr>
        <p:txBody>
          <a:bodyPr>
            <a:normAutofit/>
          </a:bodyPr>
          <a:lstStyle/>
          <a:p>
            <a:r>
              <a:rPr lang="ru-RU" sz="4000" b="1" dirty="0"/>
              <a:t>Случайные величины</a:t>
            </a:r>
            <a:endParaRPr lang="ru-RU" sz="3800" dirty="0"/>
          </a:p>
        </p:txBody>
      </p:sp>
      <p:sp>
        <p:nvSpPr>
          <p:cNvPr id="13" name="Google Shape;59;p13"/>
          <p:cNvSpPr>
            <a:spLocks noGrp="1"/>
          </p:cNvSpPr>
          <p:nvPr>
            <p:ph type="subTitle" idx="1"/>
          </p:nvPr>
        </p:nvSpPr>
        <p:spPr>
          <a:xfrm>
            <a:off x="2285984" y="2714620"/>
            <a:ext cx="6143668" cy="392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Математическое ожидание</a:t>
            </a:r>
            <a:endParaRPr lang="ru-RU" sz="2400" dirty="0" smtClean="0">
              <a:solidFill>
                <a:schemeClr val="tx1"/>
              </a:solidFill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Математическое ожидание биномиального распределения </a:t>
            </a:r>
            <a:endParaRPr lang="ru-RU" sz="2400" dirty="0" smtClean="0">
              <a:solidFill>
                <a:schemeClr val="tx1"/>
              </a:solidFill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Математическое ожидание геометрического </a:t>
            </a:r>
            <a:r>
              <a:rPr lang="ru-RU" sz="2400" dirty="0" smtClean="0">
                <a:solidFill>
                  <a:schemeClr val="tx1"/>
                </a:solidFill>
              </a:rPr>
              <a:t>распределения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Дисперсия </a:t>
            </a:r>
            <a:r>
              <a:rPr lang="ru-RU" sz="2400" dirty="0" smtClean="0">
                <a:solidFill>
                  <a:schemeClr val="tx1"/>
                </a:solidFill>
              </a:rPr>
              <a:t>и стандартное </a:t>
            </a:r>
            <a:r>
              <a:rPr lang="ru-RU" sz="2400" dirty="0" smtClean="0">
                <a:solidFill>
                  <a:schemeClr val="tx1"/>
                </a:solidFill>
              </a:rPr>
              <a:t>отклонение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Неравенство трёх </a:t>
            </a:r>
            <a:r>
              <a:rPr lang="ru-RU" sz="2400" dirty="0" smtClean="0">
                <a:solidFill>
                  <a:schemeClr val="tx1"/>
                </a:solidFill>
              </a:rPr>
              <a:t>сигм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Дисперсия биномиального </a:t>
            </a:r>
            <a:r>
              <a:rPr lang="ru-RU" sz="2400" dirty="0" smtClean="0">
                <a:solidFill>
                  <a:schemeClr val="tx1"/>
                </a:solidFill>
              </a:rPr>
              <a:t>распределения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r>
              <a:rPr lang="ru-RU" sz="2400" dirty="0" smtClean="0">
                <a:solidFill>
                  <a:schemeClr val="tx1"/>
                </a:solidFill>
              </a:rPr>
              <a:t>Дисперсия </a:t>
            </a:r>
            <a:r>
              <a:rPr lang="ru-RU" sz="2400" dirty="0" smtClean="0">
                <a:solidFill>
                  <a:schemeClr val="tx1"/>
                </a:solidFill>
              </a:rPr>
              <a:t>геометрического </a:t>
            </a:r>
            <a:r>
              <a:rPr lang="ru-RU" sz="2400" dirty="0" smtClean="0">
                <a:solidFill>
                  <a:schemeClr val="tx1"/>
                </a:solidFill>
              </a:rPr>
              <a:t>распределения</a:t>
            </a:r>
            <a:endParaRPr lang="ru-RU" sz="2400" dirty="0" smtClean="0">
              <a:solidFill>
                <a:schemeClr val="tx1"/>
              </a:solidFill>
            </a:endParaRPr>
          </a:p>
          <a:p>
            <a:pPr lvl="0" algn="l">
              <a:lnSpc>
                <a:spcPct val="120000"/>
              </a:lnSpc>
              <a:spcBef>
                <a:spcPts val="0"/>
              </a:spcBef>
              <a:buClr>
                <a:srgbClr val="00002E"/>
              </a:buClr>
              <a:buSzPts val="1850"/>
            </a:pPr>
            <a:endParaRPr sz="2400" b="0" i="0" u="none" strike="noStrike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Google Shape;67;p14"/>
          <p:cNvSpPr/>
          <p:nvPr/>
        </p:nvSpPr>
        <p:spPr>
          <a:xfrm>
            <a:off x="4286248" y="1785926"/>
            <a:ext cx="4329589" cy="54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400"/>
              <a:buFont typeface="Nunito"/>
              <a:buNone/>
            </a:pP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План</a:t>
            </a:r>
            <a:r>
              <a:rPr lang="en-US" sz="3400" b="0" i="0" u="none" strike="noStrike" cap="none" dirty="0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400" b="0" i="0" u="none" strike="noStrike" cap="none" dirty="0" err="1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презентации</a:t>
            </a:r>
            <a:endParaRPr sz="34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752664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Математическое ожидание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Физический </a:t>
            </a:r>
            <a:r>
              <a:rPr lang="ru-RU" b="1" dirty="0" smtClean="0"/>
              <a:t>смысл математического </a:t>
            </a:r>
            <a:r>
              <a:rPr lang="ru-RU" b="1" dirty="0" smtClean="0"/>
              <a:t>ожидания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Свойства математического ожидания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Математическое ожидание биномиального распределения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Математическое ожидание геометрического распределения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Дисперсия и стандартное отклонение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Свойства дисперсии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Случайной величиной называется числовая величина, значение которой </a:t>
            </a:r>
            <a:r>
              <a:rPr lang="ru-RU" sz="2400" dirty="0" smtClean="0"/>
              <a:t>однозначно определяется </a:t>
            </a:r>
            <a:r>
              <a:rPr lang="ru-RU" sz="2400" dirty="0"/>
              <a:t>исходом случайного эксперимента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В алгебре числовые величины обозначаются обычно строчными </a:t>
            </a:r>
            <a:r>
              <a:rPr lang="ru-RU" sz="2400" dirty="0" smtClean="0"/>
              <a:t>латинскими </a:t>
            </a:r>
            <a:r>
              <a:rPr lang="ru-RU" sz="2400" dirty="0"/>
              <a:t>буквами, например: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/>
              <a:t>t</a:t>
            </a:r>
            <a:r>
              <a:rPr lang="ru-RU" sz="2400" dirty="0"/>
              <a:t>, </a:t>
            </a:r>
            <a:r>
              <a:rPr lang="ru-RU" sz="2400" i="1" dirty="0"/>
              <a:t>s</a:t>
            </a:r>
            <a:r>
              <a:rPr lang="ru-RU" sz="2400" dirty="0"/>
              <a:t>. Чтобы не путать </a:t>
            </a:r>
            <a:r>
              <a:rPr lang="ru-RU" sz="2400" dirty="0" smtClean="0"/>
              <a:t>случайные </a:t>
            </a:r>
            <a:r>
              <a:rPr lang="ru-RU" sz="2400" dirty="0"/>
              <a:t>величины с неслучайными, мы будем обозначать их </a:t>
            </a:r>
            <a:r>
              <a:rPr lang="ru-RU" sz="2400" dirty="0" smtClean="0"/>
              <a:t>заглавными латинскими </a:t>
            </a:r>
            <a:r>
              <a:rPr lang="ru-RU" sz="2400" dirty="0"/>
              <a:t>буквами: 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, </a:t>
            </a:r>
            <a:r>
              <a:rPr lang="ru-RU" sz="2400" i="1" dirty="0" smtClean="0"/>
              <a:t>T</a:t>
            </a:r>
            <a:r>
              <a:rPr lang="ru-RU" sz="2400" dirty="0" smtClean="0"/>
              <a:t>, </a:t>
            </a:r>
            <a:r>
              <a:rPr lang="ru-RU" sz="2400" i="1" dirty="0" smtClean="0"/>
              <a:t>S </a:t>
            </a:r>
            <a:r>
              <a:rPr lang="ru-RU" sz="2400" dirty="0" smtClean="0"/>
              <a:t>и </a:t>
            </a:r>
            <a:r>
              <a:rPr lang="ru-RU" sz="2400" dirty="0"/>
              <a:t>т. 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Стандартное отклонение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412776"/>
            <a:ext cx="79208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Стандартным, или среднеквадратичным, отклонением случайной величины </a:t>
            </a:r>
            <a:r>
              <a:rPr lang="ru-RU" sz="2400" dirty="0" smtClean="0"/>
              <a:t>называется корень из её дисперсии. Дл обозначения стандартного отклонения используется греческая </a:t>
            </a:r>
            <a:r>
              <a:rPr lang="ru-RU" sz="2400" dirty="0" smtClean="0"/>
              <a:t>буква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smtClean="0">
                <a:latin typeface="Times New Roman"/>
                <a:cs typeface="Times New Roman"/>
              </a:rPr>
              <a:t> </a:t>
            </a:r>
            <a:r>
              <a:rPr lang="ru-RU" sz="2400" dirty="0" smtClean="0"/>
              <a:t>(сигма).</a:t>
            </a:r>
          </a:p>
          <a:p>
            <a:endParaRPr lang="ru-RU" sz="2400" dirty="0" smtClean="0"/>
          </a:p>
          <a:p>
            <a:r>
              <a:rPr lang="ru-RU" sz="2400" dirty="0" smtClean="0"/>
              <a:t>Термины «стандартное» и «среднеквадратичное» говорят о том, что </a:t>
            </a:r>
            <a:r>
              <a:rPr lang="ru-RU" sz="2400" dirty="0" smtClean="0"/>
              <a:t>в среднем </a:t>
            </a:r>
            <a:r>
              <a:rPr lang="ru-RU" sz="2400" dirty="0" smtClean="0"/>
              <a:t>значения случайной величины </a:t>
            </a:r>
            <a:r>
              <a:rPr lang="ru-RU" sz="2400" dirty="0" err="1" smtClean="0"/>
              <a:t>X</a:t>
            </a:r>
            <a:r>
              <a:rPr lang="ru-RU" sz="2400" dirty="0" smtClean="0"/>
              <a:t> отклоняются от</a:t>
            </a:r>
            <a:r>
              <a:rPr lang="ru-RU" sz="2400" i="1" dirty="0" smtClean="0"/>
              <a:t> </a:t>
            </a:r>
            <a:r>
              <a:rPr lang="ru-RU" sz="2400" i="1" dirty="0" err="1" smtClean="0"/>
              <a:t>E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) </a:t>
            </a:r>
            <a:r>
              <a:rPr lang="ru-RU" sz="2400" dirty="0" smtClean="0"/>
              <a:t>примерно</a:t>
            </a:r>
            <a:r>
              <a:rPr lang="ru-RU" sz="2400" i="1" dirty="0" smtClean="0"/>
              <a:t> </a:t>
            </a:r>
            <a:r>
              <a:rPr lang="ru-RU" sz="2400" dirty="0" smtClean="0"/>
              <a:t>на </a:t>
            </a:r>
            <a:r>
              <a:rPr lang="ru-RU" sz="2400" dirty="0" smtClean="0"/>
              <a:t>величину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dirty="0" smtClean="0"/>
              <a:t>. </a:t>
            </a:r>
            <a:endParaRPr lang="ru-RU" sz="24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214290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Неравенство трёх сигм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28596" y="928670"/>
            <a:ext cx="80724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любой случайной величины 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 </a:t>
            </a:r>
            <a:r>
              <a:rPr lang="ru-RU" sz="2400" dirty="0" smtClean="0"/>
              <a:t>вероятность того, что она отклонится </a:t>
            </a:r>
            <a:r>
              <a:rPr lang="ru-RU" sz="2400" dirty="0" smtClean="0"/>
              <a:t>от своего </a:t>
            </a:r>
            <a:r>
              <a:rPr lang="ru-RU" sz="2400" dirty="0" smtClean="0"/>
              <a:t>математического ожидания более, чем на </a:t>
            </a:r>
            <a:r>
              <a:rPr lang="ru-RU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dirty="0" smtClean="0"/>
              <a:t>, </a:t>
            </a:r>
            <a:r>
              <a:rPr lang="ru-RU" sz="2400" dirty="0" smtClean="0"/>
              <a:t>не превосходит </a:t>
            </a:r>
            <a:r>
              <a:rPr lang="ru-RU" sz="2400" dirty="0" smtClean="0"/>
              <a:t>1/9:</a:t>
            </a:r>
            <a:endParaRPr lang="ru-RU" sz="2400" dirty="0" smtClean="0"/>
          </a:p>
          <a:p>
            <a:pPr algn="ctr"/>
            <a:r>
              <a:rPr lang="de-DE" sz="2400" i="1" dirty="0" smtClean="0"/>
              <a:t>P(</a:t>
            </a:r>
            <a:r>
              <a:rPr lang="de-DE" sz="2400" dirty="0" smtClean="0"/>
              <a:t>|</a:t>
            </a:r>
            <a:r>
              <a:rPr lang="de-DE" sz="2400" i="1" dirty="0" smtClean="0"/>
              <a:t>X – E(X</a:t>
            </a:r>
            <a:r>
              <a:rPr lang="de-DE" sz="2400" i="1" dirty="0" smtClean="0"/>
              <a:t>)</a:t>
            </a:r>
            <a:r>
              <a:rPr lang="de-DE" sz="2400" dirty="0" smtClean="0"/>
              <a:t>|≥ </a:t>
            </a:r>
            <a:r>
              <a:rPr lang="de-DE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smtClean="0"/>
              <a:t>)  ≤ 1/9</a:t>
            </a:r>
            <a:r>
              <a:rPr lang="ru-RU" sz="2400" dirty="0" smtClean="0"/>
              <a:t>.</a:t>
            </a:r>
            <a:endParaRPr lang="ru-RU" sz="2400" dirty="0" smtClean="0"/>
          </a:p>
          <a:p>
            <a:r>
              <a:rPr lang="ru-RU" sz="2400" dirty="0" smtClean="0"/>
              <a:t>Перейдя </a:t>
            </a:r>
            <a:r>
              <a:rPr lang="ru-RU" sz="2400" dirty="0" smtClean="0"/>
              <a:t>к противоположному событию, можно записать это </a:t>
            </a:r>
            <a:r>
              <a:rPr lang="ru-RU" sz="2400" dirty="0" smtClean="0"/>
              <a:t>неравенство </a:t>
            </a:r>
            <a:r>
              <a:rPr lang="ru-RU" sz="2400" dirty="0" smtClean="0"/>
              <a:t>по-другому:</a:t>
            </a:r>
          </a:p>
          <a:p>
            <a:pPr algn="ctr"/>
            <a:r>
              <a:rPr lang="de-DE" sz="2400" i="1" dirty="0" smtClean="0"/>
              <a:t>P(</a:t>
            </a:r>
            <a:r>
              <a:rPr lang="de-DE" sz="2400" dirty="0" smtClean="0"/>
              <a:t>|</a:t>
            </a:r>
            <a:r>
              <a:rPr lang="de-DE" sz="2400" i="1" dirty="0" smtClean="0"/>
              <a:t>X – E(X)</a:t>
            </a:r>
            <a:r>
              <a:rPr lang="de-DE" sz="2400" dirty="0" smtClean="0"/>
              <a:t>|</a:t>
            </a:r>
            <a:r>
              <a:rPr lang="de-DE" sz="2400" i="1" dirty="0" smtClean="0"/>
              <a:t> &lt; </a:t>
            </a:r>
            <a:r>
              <a:rPr lang="de-DE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smtClean="0"/>
              <a:t>) ≥ 8/9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Значит</a:t>
            </a:r>
            <a:r>
              <a:rPr lang="ru-RU" sz="2400" dirty="0" smtClean="0"/>
              <a:t>, есть не меньше 8 шансов из 9, что значение случайной </a:t>
            </a:r>
            <a:r>
              <a:rPr lang="ru-RU" sz="2400" dirty="0" smtClean="0"/>
              <a:t>величины 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 </a:t>
            </a:r>
            <a:r>
              <a:rPr lang="ru-RU" sz="2400" dirty="0" smtClean="0"/>
              <a:t>окажется в </a:t>
            </a:r>
            <a:r>
              <a:rPr lang="ru-RU" sz="2400" dirty="0" smtClean="0"/>
              <a:t>интервале</a:t>
            </a:r>
          </a:p>
          <a:p>
            <a:endParaRPr lang="ru-RU" sz="2400" dirty="0" smtClean="0"/>
          </a:p>
          <a:p>
            <a:pPr algn="ctr"/>
            <a:r>
              <a:rPr lang="de-DE" sz="2400" dirty="0" smtClean="0"/>
              <a:t>(</a:t>
            </a:r>
            <a:r>
              <a:rPr lang="de-DE" sz="2400" i="1" dirty="0" smtClean="0"/>
              <a:t>E(X) – </a:t>
            </a:r>
            <a:r>
              <a:rPr lang="de-DE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 </a:t>
            </a:r>
            <a:r>
              <a:rPr lang="ru-RU" sz="2400" i="1" dirty="0" smtClean="0"/>
              <a:t>; </a:t>
            </a:r>
            <a:r>
              <a:rPr lang="de-DE" sz="2400" i="1" dirty="0" smtClean="0"/>
              <a:t>E(X) + </a:t>
            </a:r>
            <a:r>
              <a:rPr lang="de-DE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smtClean="0"/>
              <a:t>).</a:t>
            </a:r>
          </a:p>
          <a:p>
            <a:pPr algn="ctr"/>
            <a:endParaRPr lang="ru-RU" sz="2400" i="1" dirty="0" smtClean="0"/>
          </a:p>
          <a:p>
            <a:r>
              <a:rPr lang="ru-RU" sz="2400" dirty="0" smtClean="0"/>
              <a:t>На самом деле для многих распределений эта вероятность ещё </a:t>
            </a:r>
            <a:r>
              <a:rPr lang="ru-RU" sz="2400" dirty="0" smtClean="0"/>
              <a:t>больше. Таким </a:t>
            </a:r>
            <a:r>
              <a:rPr lang="ru-RU" sz="2400" dirty="0" smtClean="0"/>
              <a:t>образом, </a:t>
            </a:r>
            <a:r>
              <a:rPr lang="ru-RU" sz="2400" dirty="0" smtClean="0"/>
              <a:t>этот интервал включает в себя почти все вероятные </a:t>
            </a:r>
            <a:r>
              <a:rPr lang="ru-RU" sz="2400" dirty="0" smtClean="0"/>
              <a:t>значения случайной величины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dirty="0" smtClean="0"/>
              <a:t>. </a:t>
            </a:r>
            <a:endParaRPr lang="ru-RU" sz="24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214290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Неравенство трёх сигм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28596" y="928670"/>
            <a:ext cx="807249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1. </a:t>
            </a:r>
            <a:endParaRPr lang="ru-RU" sz="2400" dirty="0" smtClean="0"/>
          </a:p>
          <a:p>
            <a:r>
              <a:rPr lang="ru-RU" sz="2400" dirty="0" smtClean="0"/>
              <a:t>Случайная </a:t>
            </a:r>
            <a:r>
              <a:rPr lang="ru-RU" sz="2400" dirty="0" smtClean="0"/>
              <a:t>величина </a:t>
            </a:r>
            <a:r>
              <a:rPr lang="ru-RU" sz="2400" i="1" dirty="0" err="1" smtClean="0"/>
              <a:t>X</a:t>
            </a:r>
            <a:r>
              <a:rPr lang="ru-RU" sz="2400" dirty="0" smtClean="0"/>
              <a:t> равна числу очков, выпавших при </a:t>
            </a:r>
            <a:r>
              <a:rPr lang="ru-RU" sz="2400" dirty="0" smtClean="0"/>
              <a:t>подбрасывании игрального </a:t>
            </a:r>
            <a:r>
              <a:rPr lang="ru-RU" sz="2400" dirty="0" smtClean="0"/>
              <a:t>кубика. Найдём её стандартное отклонение</a:t>
            </a:r>
            <a:r>
              <a:rPr lang="ru-RU" sz="2400" i="1" dirty="0" smtClean="0"/>
              <a:t>.</a:t>
            </a:r>
          </a:p>
          <a:p>
            <a:endParaRPr lang="ru-RU" sz="2400" i="1" dirty="0" smtClean="0"/>
          </a:p>
          <a:p>
            <a:r>
              <a:rPr lang="ru-RU" sz="2400" dirty="0" smtClean="0"/>
              <a:t>Поскольку </a:t>
            </a:r>
            <a:r>
              <a:rPr lang="de-DE" sz="2400" i="1" dirty="0" smtClean="0"/>
              <a:t>D(X) = </a:t>
            </a:r>
            <a:r>
              <a:rPr lang="de-DE" sz="2400" i="1" dirty="0" smtClean="0"/>
              <a:t>35</a:t>
            </a:r>
            <a:r>
              <a:rPr lang="ru-RU" sz="2400" i="1" dirty="0" smtClean="0"/>
              <a:t>/</a:t>
            </a:r>
            <a:r>
              <a:rPr lang="ru-RU" sz="2400" dirty="0" smtClean="0"/>
              <a:t>12 ≈ </a:t>
            </a:r>
            <a:r>
              <a:rPr lang="ru-RU" sz="2400" dirty="0" smtClean="0"/>
              <a:t>2,9, </a:t>
            </a:r>
            <a:r>
              <a:rPr lang="ru-RU" sz="2400" dirty="0" smtClean="0"/>
              <a:t>то</a:t>
            </a:r>
            <a:r>
              <a:rPr lang="el-GR" sz="2400" i="1" dirty="0" smtClean="0">
                <a:latin typeface="Times New Roman"/>
                <a:cs typeface="Times New Roman"/>
              </a:rPr>
              <a:t>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dirty="0" smtClean="0"/>
              <a:t> </a:t>
            </a:r>
            <a:r>
              <a:rPr lang="ru-RU" sz="2400" dirty="0" smtClean="0"/>
              <a:t>= </a:t>
            </a:r>
            <a:r>
              <a:rPr lang="ru-RU" sz="2400" dirty="0" smtClean="0"/>
              <a:t>(</a:t>
            </a:r>
            <a:r>
              <a:rPr lang="ru-RU" sz="2400" i="1" dirty="0" err="1" smtClean="0"/>
              <a:t>D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))</a:t>
            </a:r>
            <a:r>
              <a:rPr lang="ru-RU" sz="2400" i="1" baseline="30000" dirty="0" smtClean="0"/>
              <a:t>1/2</a:t>
            </a:r>
            <a:r>
              <a:rPr lang="ru-RU" sz="2400" i="1" dirty="0" smtClean="0"/>
              <a:t> </a:t>
            </a:r>
            <a:r>
              <a:rPr lang="ru-RU" sz="2400" dirty="0" smtClean="0"/>
              <a:t>≈</a:t>
            </a:r>
            <a:r>
              <a:rPr lang="ru-RU" sz="2400" dirty="0" smtClean="0"/>
              <a:t> </a:t>
            </a:r>
            <a:r>
              <a:rPr lang="ru-RU" sz="2400" dirty="0" smtClean="0"/>
              <a:t>1,7.</a:t>
            </a:r>
          </a:p>
          <a:p>
            <a:endParaRPr lang="ru-RU" sz="2400" dirty="0" smtClean="0"/>
          </a:p>
          <a:p>
            <a:r>
              <a:rPr lang="ru-RU" sz="2400" dirty="0" smtClean="0"/>
              <a:t>Так </a:t>
            </a:r>
            <a:r>
              <a:rPr lang="ru-RU" sz="2400" dirty="0" smtClean="0"/>
              <a:t>как </a:t>
            </a:r>
            <a:r>
              <a:rPr lang="ru-RU" sz="2400" i="1" dirty="0" err="1" smtClean="0"/>
              <a:t>E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) = 3,5 и </a:t>
            </a:r>
            <a:r>
              <a:rPr lang="ru-RU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smtClean="0"/>
              <a:t> </a:t>
            </a:r>
            <a:r>
              <a:rPr lang="ru-RU" sz="2400" i="1" dirty="0" smtClean="0"/>
              <a:t>= 5,1</a:t>
            </a:r>
            <a:r>
              <a:rPr lang="ru-RU" sz="2400" dirty="0" smtClean="0"/>
              <a:t>, то интервалом «трёх сигм» будет</a:t>
            </a:r>
            <a:r>
              <a:rPr lang="ru-RU" sz="2400" i="1" dirty="0" smtClean="0"/>
              <a:t> (3,5 – </a:t>
            </a:r>
            <a:r>
              <a:rPr lang="ru-RU" sz="2400" i="1" dirty="0" smtClean="0"/>
              <a:t>5,1;</a:t>
            </a:r>
            <a:r>
              <a:rPr lang="ru-RU" sz="2400" dirty="0" smtClean="0"/>
              <a:t>3,5 </a:t>
            </a:r>
            <a:r>
              <a:rPr lang="ru-RU" sz="2400" dirty="0" smtClean="0"/>
              <a:t>+ 5,1). В нём лежат все значения случайной величины </a:t>
            </a:r>
            <a:r>
              <a:rPr lang="ru-RU" sz="2400" i="1" dirty="0" smtClean="0"/>
              <a:t>X</a:t>
            </a:r>
            <a:r>
              <a:rPr lang="ru-RU" sz="2400" i="1" dirty="0" smtClean="0"/>
              <a:t>.</a:t>
            </a:r>
            <a:endParaRPr lang="ru-RU" sz="2400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85720" y="214290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Неравенство трёх сигм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28596" y="928670"/>
            <a:ext cx="85011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</a:t>
            </a:r>
            <a:r>
              <a:rPr lang="ru-RU" sz="2400" dirty="0" smtClean="0"/>
              <a:t>2. </a:t>
            </a:r>
          </a:p>
          <a:p>
            <a:r>
              <a:rPr lang="ru-RU" sz="2400" dirty="0" smtClean="0"/>
              <a:t>Пусть теперь </a:t>
            </a:r>
            <a:r>
              <a:rPr lang="ru-RU" sz="2400" i="1" dirty="0" err="1" smtClean="0"/>
              <a:t>S</a:t>
            </a:r>
            <a:r>
              <a:rPr lang="ru-RU" sz="2400" i="1" dirty="0" smtClean="0"/>
              <a:t> </a:t>
            </a:r>
            <a:r>
              <a:rPr lang="ru-RU" sz="2400" dirty="0" smtClean="0"/>
              <a:t>— сумма очков, выпавших </a:t>
            </a:r>
            <a:r>
              <a:rPr lang="ru-RU" sz="2400" dirty="0" smtClean="0"/>
              <a:t>при подбрасывании </a:t>
            </a:r>
            <a:r>
              <a:rPr lang="ru-RU" sz="2400" dirty="0" smtClean="0"/>
              <a:t>двух </a:t>
            </a:r>
            <a:r>
              <a:rPr lang="ru-RU" sz="2400" dirty="0" smtClean="0"/>
              <a:t>кубиков</a:t>
            </a:r>
            <a:r>
              <a:rPr lang="ru-RU" sz="2400" dirty="0" smtClean="0"/>
              <a:t>. Найдём её стандартное отклонение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ru-RU" sz="2400" dirty="0" smtClean="0"/>
              <a:t>Мы уже </a:t>
            </a:r>
            <a:r>
              <a:rPr lang="ru-RU" sz="2400" dirty="0" smtClean="0"/>
              <a:t>вычисляли </a:t>
            </a:r>
            <a:r>
              <a:rPr lang="ru-RU" sz="2400" i="1" dirty="0" err="1" smtClean="0"/>
              <a:t>D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S</a:t>
            </a:r>
            <a:r>
              <a:rPr lang="ru-RU" sz="2400" i="1" dirty="0" smtClean="0"/>
              <a:t>) = </a:t>
            </a:r>
            <a:r>
              <a:rPr lang="ru-RU" sz="2400" i="1" dirty="0" smtClean="0"/>
              <a:t>35/</a:t>
            </a:r>
            <a:r>
              <a:rPr lang="ru-RU" sz="2400" dirty="0" smtClean="0"/>
              <a:t>6 </a:t>
            </a:r>
            <a:r>
              <a:rPr lang="ru-RU" sz="2400" dirty="0" smtClean="0"/>
              <a:t>≈</a:t>
            </a:r>
            <a:r>
              <a:rPr lang="ru-RU" sz="2400" dirty="0" smtClean="0"/>
              <a:t> </a:t>
            </a:r>
            <a:r>
              <a:rPr lang="ru-RU" sz="2400" dirty="0" smtClean="0"/>
              <a:t>5,8, поэтому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dirty="0" smtClean="0"/>
              <a:t> = (</a:t>
            </a:r>
            <a:r>
              <a:rPr lang="ru-RU" sz="2400" i="1" dirty="0" err="1" smtClean="0"/>
              <a:t>D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))</a:t>
            </a:r>
            <a:r>
              <a:rPr lang="ru-RU" sz="2400" i="1" baseline="30000" dirty="0" smtClean="0"/>
              <a:t>1/2</a:t>
            </a:r>
            <a:r>
              <a:rPr lang="ru-RU" sz="2400" i="1" dirty="0" smtClean="0"/>
              <a:t> </a:t>
            </a:r>
            <a:r>
              <a:rPr lang="ru-RU" sz="2400" dirty="0" smtClean="0"/>
              <a:t>≈ </a:t>
            </a:r>
            <a:r>
              <a:rPr lang="ru-RU" sz="2400" dirty="0" smtClean="0"/>
              <a:t>2,4.</a:t>
            </a:r>
            <a:endParaRPr lang="ru-RU" sz="2400" dirty="0" smtClean="0"/>
          </a:p>
          <a:p>
            <a:r>
              <a:rPr lang="ru-RU" sz="2400" dirty="0" smtClean="0"/>
              <a:t>Так как </a:t>
            </a:r>
            <a:r>
              <a:rPr lang="ru-RU" sz="2400" i="1" dirty="0" err="1" smtClean="0"/>
              <a:t>E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S</a:t>
            </a:r>
            <a:r>
              <a:rPr lang="ru-RU" sz="2400" i="1" dirty="0" smtClean="0"/>
              <a:t>) = 7 и </a:t>
            </a:r>
            <a:r>
              <a:rPr lang="ru-RU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 σ </a:t>
            </a:r>
            <a:r>
              <a:rPr lang="ru-RU" sz="2400" i="1" dirty="0" smtClean="0"/>
              <a:t>= </a:t>
            </a:r>
            <a:r>
              <a:rPr lang="ru-RU" sz="2400" i="1" dirty="0" smtClean="0"/>
              <a:t>7,2</a:t>
            </a:r>
            <a:r>
              <a:rPr lang="ru-RU" sz="2400" dirty="0" smtClean="0"/>
              <a:t>, то интервалом «трёх сигм» будет </a:t>
            </a:r>
            <a:endParaRPr lang="ru-RU" sz="2400" dirty="0" smtClean="0"/>
          </a:p>
          <a:p>
            <a:r>
              <a:rPr lang="ru-RU" sz="2400" i="1" dirty="0" smtClean="0"/>
              <a:t>(</a:t>
            </a:r>
            <a:r>
              <a:rPr lang="ru-RU" sz="2400" i="1" dirty="0" smtClean="0"/>
              <a:t>7 – </a:t>
            </a:r>
            <a:r>
              <a:rPr lang="ru-RU" sz="2400" i="1" dirty="0" smtClean="0"/>
              <a:t>7,2;</a:t>
            </a:r>
            <a:r>
              <a:rPr lang="ru-RU" sz="2400" dirty="0" smtClean="0"/>
              <a:t>7 </a:t>
            </a:r>
            <a:r>
              <a:rPr lang="ru-RU" sz="2400" dirty="0" smtClean="0"/>
              <a:t>+ 7,2). В нём также лежат все значения случайной величины </a:t>
            </a:r>
            <a:r>
              <a:rPr lang="ru-RU" sz="2400" i="1" dirty="0" smtClean="0"/>
              <a:t>S</a:t>
            </a:r>
            <a:r>
              <a:rPr lang="ru-RU" sz="2400" i="1" dirty="0" smtClean="0"/>
              <a:t>.</a:t>
            </a:r>
            <a:endParaRPr lang="ru-RU" sz="24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57158" y="142852"/>
            <a:ext cx="8572560" cy="71438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/>
              <a:t>Неравенство трёх сигм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4282" y="856357"/>
            <a:ext cx="864399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3</a:t>
            </a:r>
            <a:r>
              <a:rPr lang="ru-RU" sz="2400" dirty="0" smtClean="0"/>
              <a:t>. </a:t>
            </a:r>
          </a:p>
          <a:p>
            <a:r>
              <a:rPr lang="ru-RU" sz="2400" dirty="0" smtClean="0"/>
              <a:t>Вернёмся к задаче, в которой два стрелка делают по одному выстрелу </a:t>
            </a:r>
            <a:r>
              <a:rPr lang="ru-RU" sz="2400" dirty="0" smtClean="0"/>
              <a:t>в мишень</a:t>
            </a:r>
            <a:r>
              <a:rPr lang="ru-RU" sz="2400" dirty="0" smtClean="0"/>
              <a:t>. Если вероятности попадания для них равны </a:t>
            </a:r>
            <a:r>
              <a:rPr lang="ru-RU" sz="2400" i="1" dirty="0" err="1" smtClean="0"/>
              <a:t>p1</a:t>
            </a:r>
            <a:r>
              <a:rPr lang="ru-RU" sz="2400" i="1" dirty="0" smtClean="0"/>
              <a:t> и </a:t>
            </a:r>
            <a:r>
              <a:rPr lang="ru-RU" sz="2400" i="1" dirty="0" err="1" smtClean="0"/>
              <a:t>p2</a:t>
            </a:r>
            <a:r>
              <a:rPr lang="ru-RU" sz="2400" dirty="0" smtClean="0"/>
              <a:t>, то </a:t>
            </a:r>
            <a:r>
              <a:rPr lang="ru-RU" sz="2400" dirty="0" smtClean="0"/>
              <a:t>случайная величина </a:t>
            </a:r>
            <a:r>
              <a:rPr lang="ru-RU" sz="2400" i="1" dirty="0" err="1" smtClean="0"/>
              <a:t>X</a:t>
            </a:r>
            <a:r>
              <a:rPr lang="ru-RU" sz="2400" dirty="0" smtClean="0"/>
              <a:t>, равная общему числу попаданий, имеет следующие </a:t>
            </a:r>
            <a:r>
              <a:rPr lang="ru-RU" sz="2400" dirty="0" smtClean="0"/>
              <a:t>характеристики:</a:t>
            </a:r>
          </a:p>
          <a:p>
            <a:pPr algn="ctr"/>
            <a:endParaRPr lang="ru-RU" sz="2400" i="1" dirty="0" smtClean="0"/>
          </a:p>
          <a:p>
            <a:pPr algn="ctr"/>
            <a:r>
              <a:rPr lang="de-DE" sz="2400" i="1" dirty="0" smtClean="0"/>
              <a:t>E(X</a:t>
            </a:r>
            <a:r>
              <a:rPr lang="de-DE" sz="2400" i="1" dirty="0" smtClean="0"/>
              <a:t>) = </a:t>
            </a:r>
            <a:r>
              <a:rPr lang="de-DE" sz="2400" i="1" dirty="0" err="1" smtClean="0"/>
              <a:t>p</a:t>
            </a:r>
            <a:r>
              <a:rPr lang="de-DE" sz="2400" i="1" baseline="-25000" dirty="0" err="1" smtClean="0"/>
              <a:t>1</a:t>
            </a:r>
            <a:r>
              <a:rPr lang="de-DE" sz="2400" i="1" dirty="0" smtClean="0"/>
              <a:t> + </a:t>
            </a:r>
            <a:r>
              <a:rPr lang="de-DE" sz="2400" i="1" dirty="0" err="1" smtClean="0"/>
              <a:t>p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, D(X) = </a:t>
            </a:r>
            <a:r>
              <a:rPr lang="de-DE" sz="2400" i="1" dirty="0" err="1" smtClean="0"/>
              <a:t>p</a:t>
            </a:r>
            <a:r>
              <a:rPr lang="de-DE" sz="2400" i="1" baseline="-25000" dirty="0" err="1" smtClean="0"/>
              <a:t>1</a:t>
            </a:r>
            <a:r>
              <a:rPr lang="de-DE" sz="2400" i="1" dirty="0" smtClean="0"/>
              <a:t>(1 – </a:t>
            </a:r>
            <a:r>
              <a:rPr lang="de-DE" sz="2400" i="1" dirty="0" err="1" smtClean="0"/>
              <a:t>p</a:t>
            </a:r>
            <a:r>
              <a:rPr lang="de-DE" sz="2400" i="1" baseline="-25000" dirty="0" err="1" smtClean="0"/>
              <a:t>1</a:t>
            </a:r>
            <a:r>
              <a:rPr lang="de-DE" sz="2400" i="1" dirty="0" smtClean="0"/>
              <a:t>) + </a:t>
            </a:r>
            <a:r>
              <a:rPr lang="de-DE" sz="2400" i="1" dirty="0" err="1" smtClean="0"/>
              <a:t>p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(1 – </a:t>
            </a:r>
            <a:r>
              <a:rPr lang="de-DE" sz="2400" i="1" dirty="0" err="1" smtClean="0"/>
              <a:t>p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)</a:t>
            </a:r>
            <a:r>
              <a:rPr lang="ru-RU" sz="2400" i="1" dirty="0" smtClean="0"/>
              <a:t>,</a:t>
            </a:r>
          </a:p>
          <a:p>
            <a:endParaRPr lang="ru-RU" sz="2400" i="1" dirty="0" smtClean="0"/>
          </a:p>
          <a:p>
            <a:endParaRPr lang="ru-RU" sz="2400" i="1" dirty="0" smtClean="0"/>
          </a:p>
          <a:p>
            <a:r>
              <a:rPr lang="ru-RU" sz="2400" dirty="0" smtClean="0"/>
              <a:t>Если взять, например, </a:t>
            </a:r>
            <a:r>
              <a:rPr lang="ru-RU" sz="2400" i="1" dirty="0" err="1" smtClean="0"/>
              <a:t>p</a:t>
            </a:r>
            <a:r>
              <a:rPr lang="ru-RU" sz="2400" i="1" baseline="-25000" dirty="0" err="1" smtClean="0"/>
              <a:t>1</a:t>
            </a:r>
            <a:r>
              <a:rPr lang="ru-RU" sz="2400" i="1" dirty="0" smtClean="0"/>
              <a:t> = </a:t>
            </a:r>
            <a:r>
              <a:rPr lang="ru-RU" sz="2400" i="1" dirty="0" smtClean="0"/>
              <a:t>0,99 </a:t>
            </a:r>
            <a:r>
              <a:rPr lang="ru-RU" sz="2400" dirty="0" smtClean="0"/>
              <a:t>и </a:t>
            </a:r>
            <a:r>
              <a:rPr lang="ru-RU" sz="2400" i="1" dirty="0" err="1" smtClean="0"/>
              <a:t>p</a:t>
            </a:r>
            <a:r>
              <a:rPr lang="ru-RU" sz="2400" i="1" baseline="-25000" dirty="0" err="1" smtClean="0"/>
              <a:t>2</a:t>
            </a:r>
            <a:r>
              <a:rPr lang="ru-RU" sz="2400" i="1" dirty="0" smtClean="0"/>
              <a:t> = </a:t>
            </a:r>
            <a:r>
              <a:rPr lang="ru-RU" sz="2400" i="1" dirty="0" smtClean="0"/>
              <a:t>0,01</a:t>
            </a:r>
            <a:r>
              <a:rPr lang="ru-RU" sz="2400" dirty="0" smtClean="0"/>
              <a:t>, </a:t>
            </a:r>
            <a:r>
              <a:rPr lang="ru-RU" sz="2400" dirty="0" smtClean="0"/>
              <a:t>то </a:t>
            </a:r>
            <a:r>
              <a:rPr lang="ru-RU" sz="2400" dirty="0" smtClean="0"/>
              <a:t>получим </a:t>
            </a:r>
            <a:r>
              <a:rPr lang="de-DE" sz="2400" i="1" dirty="0" smtClean="0"/>
              <a:t>E(X</a:t>
            </a:r>
            <a:r>
              <a:rPr lang="de-DE" sz="2400" i="1" dirty="0" smtClean="0"/>
              <a:t>) = </a:t>
            </a:r>
            <a:r>
              <a:rPr lang="de-DE" sz="2400" i="1" dirty="0" smtClean="0"/>
              <a:t>1;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smtClean="0"/>
              <a:t> </a:t>
            </a:r>
            <a:r>
              <a:rPr lang="ru-RU" sz="2400" i="1" dirty="0" smtClean="0"/>
              <a:t>≈ 0,14; </a:t>
            </a:r>
            <a:r>
              <a:rPr lang="ru-RU" sz="2400" i="1" dirty="0" smtClean="0"/>
              <a:t>3</a:t>
            </a:r>
            <a:r>
              <a:rPr lang="el-GR" sz="2400" i="1" dirty="0" smtClean="0">
                <a:latin typeface="Times New Roman"/>
                <a:cs typeface="Times New Roman"/>
              </a:rPr>
              <a:t>σ </a:t>
            </a:r>
            <a:r>
              <a:rPr lang="ru-RU" sz="2400" i="1" dirty="0" smtClean="0"/>
              <a:t>≈ 0,42 </a:t>
            </a:r>
            <a:r>
              <a:rPr lang="ru-RU" sz="2400" dirty="0" smtClean="0"/>
              <a:t>и </a:t>
            </a:r>
            <a:r>
              <a:rPr lang="ru-RU" sz="2400" dirty="0" smtClean="0"/>
              <a:t>интервалом «трёх сигм» будет интервал </a:t>
            </a:r>
            <a:endParaRPr lang="ru-RU" sz="2400" dirty="0" smtClean="0"/>
          </a:p>
          <a:p>
            <a:r>
              <a:rPr lang="ru-RU" sz="2400" dirty="0" smtClean="0"/>
              <a:t>(</a:t>
            </a:r>
            <a:r>
              <a:rPr lang="ru-RU" sz="2400" dirty="0" smtClean="0"/>
              <a:t>0,58; 1,42). Он будет </a:t>
            </a:r>
            <a:r>
              <a:rPr lang="ru-RU" sz="2400" dirty="0" smtClean="0"/>
              <a:t>включать только </a:t>
            </a:r>
            <a:r>
              <a:rPr lang="ru-RU" sz="2400" dirty="0" smtClean="0"/>
              <a:t>одно из трёх возможных значений случайной величины </a:t>
            </a:r>
            <a:r>
              <a:rPr lang="ru-RU" sz="2400" i="1" dirty="0" err="1" smtClean="0"/>
              <a:t>X</a:t>
            </a:r>
            <a:r>
              <a:rPr lang="ru-RU" sz="2400" dirty="0" smtClean="0"/>
              <a:t>, которая может </a:t>
            </a:r>
            <a:r>
              <a:rPr lang="ru-RU" sz="2400" dirty="0" smtClean="0"/>
              <a:t>принимать значения 0, 1 и 2). Но вероятность этого </a:t>
            </a:r>
            <a:r>
              <a:rPr lang="ru-RU" sz="2400" dirty="0" smtClean="0"/>
              <a:t>значения будет </a:t>
            </a:r>
            <a:r>
              <a:rPr lang="de-DE" sz="2400" i="1" dirty="0" smtClean="0"/>
              <a:t>P(X </a:t>
            </a:r>
            <a:r>
              <a:rPr lang="de-DE" sz="2400" i="1" dirty="0" smtClean="0"/>
              <a:t>= 1) = 0,99 ∙ 0,99 + 0,01 ∙ 0,01 = 0,98 &gt; </a:t>
            </a:r>
            <a:r>
              <a:rPr lang="de-DE" sz="2400" i="1" dirty="0" smtClean="0"/>
              <a:t>89</a:t>
            </a:r>
            <a:r>
              <a:rPr lang="ru-RU" sz="2400" dirty="0" smtClean="0"/>
              <a:t>.</a:t>
            </a:r>
            <a:endParaRPr lang="ru-RU" sz="2400" dirty="0" smtClean="0"/>
          </a:p>
          <a:p>
            <a:r>
              <a:rPr lang="ru-RU" sz="2400" dirty="0" smtClean="0"/>
              <a:t>Так что неравенство «трёх сигм» здесь тоже выполняется</a:t>
            </a:r>
            <a:r>
              <a:rPr lang="ru-RU" sz="2400" dirty="0" smtClean="0"/>
              <a:t>.</a:t>
            </a:r>
            <a:endParaRPr lang="ru-RU" sz="2400" i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3" y="3714752"/>
            <a:ext cx="3786443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14282" y="142852"/>
            <a:ext cx="8858312" cy="714380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Дисперсия </a:t>
            </a:r>
            <a:r>
              <a:rPr lang="ru-RU" sz="3600" b="1" dirty="0" smtClean="0"/>
              <a:t>биномиального распределения</a:t>
            </a:r>
            <a:endParaRPr lang="ru-RU" sz="3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4282" y="1142984"/>
            <a:ext cx="87154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Дисперсию биномиального распределения можно найти всё тем же </a:t>
            </a:r>
            <a:r>
              <a:rPr lang="ru-RU" sz="2400" dirty="0" smtClean="0"/>
              <a:t>методом </a:t>
            </a:r>
            <a:r>
              <a:rPr lang="ru-RU" sz="2400" dirty="0" smtClean="0"/>
              <a:t>индикаторов. </a:t>
            </a:r>
            <a:r>
              <a:rPr lang="ru-RU" sz="2400" dirty="0" smtClean="0"/>
              <a:t>При </a:t>
            </a:r>
            <a:r>
              <a:rPr lang="ru-RU" sz="2400" dirty="0" smtClean="0"/>
              <a:t>вычислении </a:t>
            </a:r>
            <a:r>
              <a:rPr lang="ru-RU" sz="2400" dirty="0" smtClean="0"/>
              <a:t>математического ожидания </a:t>
            </a:r>
            <a:r>
              <a:rPr lang="ru-RU" sz="2400" dirty="0" smtClean="0"/>
              <a:t>мы представили случайную величину </a:t>
            </a:r>
            <a:r>
              <a:rPr lang="ru-RU" sz="2400" i="1" dirty="0" err="1" smtClean="0"/>
              <a:t>X</a:t>
            </a:r>
            <a:r>
              <a:rPr lang="ru-RU" sz="2400" dirty="0" smtClean="0"/>
              <a:t>, равную числу </a:t>
            </a:r>
            <a:r>
              <a:rPr lang="ru-RU" sz="2400" dirty="0" smtClean="0"/>
              <a:t>успехов в </a:t>
            </a:r>
            <a:r>
              <a:rPr lang="ru-RU" sz="2400" i="1" dirty="0" err="1" smtClean="0"/>
              <a:t>N</a:t>
            </a:r>
            <a:r>
              <a:rPr lang="ru-RU" sz="2400" i="1" dirty="0" smtClean="0"/>
              <a:t> </a:t>
            </a:r>
            <a:r>
              <a:rPr lang="ru-RU" sz="2400" dirty="0" smtClean="0"/>
              <a:t>испытаниях Бернулли, как сумму </a:t>
            </a:r>
            <a:r>
              <a:rPr lang="ru-RU" sz="2400" dirty="0" smtClean="0"/>
              <a:t>индикаторов:</a:t>
            </a:r>
            <a:r>
              <a:rPr lang="ru-RU" sz="2400" i="1" dirty="0" smtClean="0"/>
              <a:t> </a:t>
            </a:r>
          </a:p>
          <a:p>
            <a:pPr algn="ctr"/>
            <a:r>
              <a:rPr lang="de-DE" sz="2400" i="1" dirty="0" smtClean="0"/>
              <a:t>X </a:t>
            </a:r>
            <a:r>
              <a:rPr lang="de-DE" sz="2400" i="1" dirty="0" smtClean="0"/>
              <a:t>= 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1</a:t>
            </a:r>
            <a:r>
              <a:rPr lang="de-DE" sz="2400" i="1" dirty="0" smtClean="0"/>
              <a:t> + 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 + … + 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N</a:t>
            </a:r>
            <a:r>
              <a:rPr lang="de-DE" sz="2400" i="1" dirty="0" smtClean="0"/>
              <a:t>.</a:t>
            </a:r>
          </a:p>
          <a:p>
            <a:r>
              <a:rPr lang="ru-RU" sz="2400" dirty="0" smtClean="0"/>
              <a:t>Каждая из величин 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1</a:t>
            </a:r>
            <a:r>
              <a:rPr lang="ru-RU" sz="2400" i="1" dirty="0" smtClean="0"/>
              <a:t>,</a:t>
            </a:r>
            <a:r>
              <a:rPr lang="de-DE" sz="2400" i="1" dirty="0" smtClean="0"/>
              <a:t> 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 </a:t>
            </a:r>
            <a:r>
              <a:rPr lang="ru-RU" sz="2400" i="1" dirty="0" smtClean="0"/>
              <a:t>, </a:t>
            </a:r>
            <a:r>
              <a:rPr lang="ru-RU" sz="2400" i="1" dirty="0" smtClean="0"/>
              <a:t>..</a:t>
            </a:r>
            <a:r>
              <a:rPr lang="ru-RU" sz="2400" i="1" dirty="0" smtClean="0"/>
              <a:t> ,</a:t>
            </a:r>
            <a:r>
              <a:rPr lang="de-DE" sz="2400" i="1" dirty="0" smtClean="0"/>
              <a:t> 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N</a:t>
            </a:r>
            <a:r>
              <a:rPr lang="ru-RU" sz="2400" i="1" dirty="0" smtClean="0"/>
              <a:t> </a:t>
            </a:r>
            <a:r>
              <a:rPr lang="ru-RU" sz="2400" dirty="0" smtClean="0"/>
              <a:t>равна</a:t>
            </a:r>
            <a:r>
              <a:rPr lang="ru-RU" sz="2400" i="1" dirty="0" smtClean="0"/>
              <a:t> 1</a:t>
            </a:r>
            <a:r>
              <a:rPr lang="ru-RU" sz="2400" dirty="0" smtClean="0"/>
              <a:t>, </a:t>
            </a:r>
            <a:r>
              <a:rPr lang="ru-RU" sz="2400" dirty="0" smtClean="0"/>
              <a:t>если соответствующее ей испытание </a:t>
            </a:r>
            <a:r>
              <a:rPr lang="ru-RU" sz="2400" dirty="0" smtClean="0"/>
              <a:t>завершилось успехом, и равна 0 — </a:t>
            </a:r>
            <a:r>
              <a:rPr lang="ru-RU" sz="2400" dirty="0" smtClean="0"/>
              <a:t>если неудачей</a:t>
            </a:r>
            <a:r>
              <a:rPr lang="ru-RU" sz="2400" dirty="0" smtClean="0"/>
              <a:t>. Отсюда</a:t>
            </a:r>
          </a:p>
          <a:p>
            <a:pPr algn="ctr"/>
            <a:r>
              <a:rPr lang="de-DE" sz="2400" i="1" dirty="0" smtClean="0"/>
              <a:t>D(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1</a:t>
            </a:r>
            <a:r>
              <a:rPr lang="de-DE" sz="2400" i="1" dirty="0" smtClean="0"/>
              <a:t>) = D(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) = … = D(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N</a:t>
            </a:r>
            <a:r>
              <a:rPr lang="de-DE" sz="2400" i="1" dirty="0" smtClean="0"/>
              <a:t>) = p(1 – p) = </a:t>
            </a:r>
            <a:r>
              <a:rPr lang="de-DE" sz="2400" i="1" dirty="0" err="1" smtClean="0"/>
              <a:t>pq</a:t>
            </a:r>
            <a:r>
              <a:rPr lang="de-DE" sz="2400" i="1" dirty="0" smtClean="0"/>
              <a:t>.</a:t>
            </a:r>
          </a:p>
          <a:p>
            <a:r>
              <a:rPr lang="ru-RU" sz="2400" dirty="0" smtClean="0"/>
              <a:t>Из независимости испытаний Бернулли следует независимость </a:t>
            </a:r>
            <a:r>
              <a:rPr lang="ru-RU" sz="2400" dirty="0" smtClean="0"/>
              <a:t>случайных величин, поэтому </a:t>
            </a:r>
          </a:p>
          <a:p>
            <a:pPr algn="ctr"/>
            <a:r>
              <a:rPr lang="de-DE" sz="2400" i="1" dirty="0" smtClean="0"/>
              <a:t>D(X</a:t>
            </a:r>
            <a:r>
              <a:rPr lang="de-DE" sz="2400" i="1" dirty="0" smtClean="0"/>
              <a:t>) = D(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1</a:t>
            </a:r>
            <a:r>
              <a:rPr lang="de-DE" sz="2400" i="1" dirty="0" smtClean="0"/>
              <a:t>) </a:t>
            </a:r>
            <a:r>
              <a:rPr lang="ru-RU" sz="2400" i="1" dirty="0" smtClean="0"/>
              <a:t>+</a:t>
            </a:r>
            <a:r>
              <a:rPr lang="de-DE" sz="2400" i="1" dirty="0" smtClean="0"/>
              <a:t> </a:t>
            </a:r>
            <a:r>
              <a:rPr lang="de-DE" sz="2400" i="1" dirty="0" smtClean="0"/>
              <a:t>D(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2</a:t>
            </a:r>
            <a:r>
              <a:rPr lang="de-DE" sz="2400" i="1" dirty="0" smtClean="0"/>
              <a:t>)</a:t>
            </a:r>
            <a:r>
              <a:rPr lang="ru-RU" sz="2400" i="1" dirty="0" smtClean="0"/>
              <a:t>+</a:t>
            </a:r>
            <a:r>
              <a:rPr lang="de-DE" sz="2400" i="1" dirty="0" smtClean="0"/>
              <a:t> </a:t>
            </a:r>
            <a:r>
              <a:rPr lang="de-DE" sz="2400" i="1" dirty="0" smtClean="0"/>
              <a:t>D(</a:t>
            </a:r>
            <a:r>
              <a:rPr lang="de-DE" sz="2400" i="1" dirty="0" err="1" smtClean="0"/>
              <a:t>X</a:t>
            </a:r>
            <a:r>
              <a:rPr lang="de-DE" sz="2400" i="1" baseline="-25000" dirty="0" err="1" smtClean="0"/>
              <a:t>N</a:t>
            </a:r>
            <a:r>
              <a:rPr lang="de-DE" sz="2400" i="1" dirty="0" smtClean="0"/>
              <a:t>) </a:t>
            </a:r>
            <a:r>
              <a:rPr lang="de-DE" sz="2400" i="1" dirty="0" smtClean="0"/>
              <a:t> </a:t>
            </a:r>
            <a:r>
              <a:rPr lang="de-DE" sz="2400" i="1" dirty="0" smtClean="0"/>
              <a:t>= </a:t>
            </a:r>
            <a:r>
              <a:rPr lang="de-DE" sz="2400" i="1" dirty="0" err="1" smtClean="0"/>
              <a:t>pq</a:t>
            </a:r>
            <a:r>
              <a:rPr lang="de-DE" sz="2400" i="1" dirty="0" smtClean="0"/>
              <a:t> + </a:t>
            </a:r>
            <a:r>
              <a:rPr lang="de-DE" sz="2400" i="1" dirty="0" err="1" smtClean="0"/>
              <a:t>pq</a:t>
            </a:r>
            <a:r>
              <a:rPr lang="de-DE" sz="2400" i="1" dirty="0" smtClean="0"/>
              <a:t> + ... + </a:t>
            </a:r>
            <a:r>
              <a:rPr lang="de-DE" sz="2400" i="1" dirty="0" err="1" smtClean="0"/>
              <a:t>pq</a:t>
            </a:r>
            <a:r>
              <a:rPr lang="de-DE" sz="2400" dirty="0" smtClean="0"/>
              <a:t>= </a:t>
            </a:r>
            <a:r>
              <a:rPr lang="de-DE" sz="2400" i="1" dirty="0" err="1" smtClean="0"/>
              <a:t>Npq</a:t>
            </a:r>
            <a:r>
              <a:rPr lang="de-DE" sz="2400" i="1" dirty="0" smtClean="0"/>
              <a:t>.</a:t>
            </a:r>
          </a:p>
          <a:p>
            <a:r>
              <a:rPr lang="ru-RU" sz="2400" dirty="0" smtClean="0"/>
              <a:t>Таким образом, мы получили формулу для дисперсии </a:t>
            </a:r>
            <a:r>
              <a:rPr lang="ru-RU" sz="2400" dirty="0" smtClean="0"/>
              <a:t>биномиального распределения</a:t>
            </a:r>
            <a:r>
              <a:rPr lang="ru-RU" sz="2400" dirty="0" smtClean="0"/>
              <a:t>:</a:t>
            </a:r>
          </a:p>
          <a:p>
            <a:pPr algn="ctr"/>
            <a:r>
              <a:rPr lang="de-DE" sz="2400" i="1" dirty="0" smtClean="0"/>
              <a:t>D(X) = </a:t>
            </a:r>
            <a:r>
              <a:rPr lang="de-DE" sz="2400" i="1" dirty="0" err="1" smtClean="0"/>
              <a:t>Npq</a:t>
            </a:r>
            <a:r>
              <a:rPr lang="de-DE" sz="2400" i="1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0" y="142852"/>
            <a:ext cx="9072594" cy="714380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Дисперсия геометрического распределения</a:t>
            </a:r>
            <a:endParaRPr lang="ru-RU" sz="3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4282" y="1142984"/>
            <a:ext cx="87154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Чтобы вычислить дисперсию </a:t>
            </a:r>
            <a:r>
              <a:rPr lang="ru-RU" sz="2400" i="1" dirty="0" err="1" smtClean="0"/>
              <a:t>D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) </a:t>
            </a:r>
            <a:r>
              <a:rPr lang="ru-RU" sz="2400" dirty="0" smtClean="0"/>
              <a:t>для случайной величины 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, </a:t>
            </a:r>
            <a:r>
              <a:rPr lang="ru-RU" sz="2400" dirty="0" smtClean="0"/>
              <a:t>имеющей </a:t>
            </a:r>
            <a:r>
              <a:rPr lang="ru-RU" sz="2400" dirty="0" smtClean="0"/>
              <a:t>геометрическое распределение, нужно найти </a:t>
            </a:r>
            <a:r>
              <a:rPr lang="ru-RU" sz="2400" i="1" dirty="0" err="1" smtClean="0"/>
              <a:t>E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baseline="30000" dirty="0" err="1" smtClean="0"/>
              <a:t>2</a:t>
            </a:r>
            <a:r>
              <a:rPr lang="ru-RU" sz="2400" i="1" dirty="0" smtClean="0"/>
              <a:t>). </a:t>
            </a:r>
            <a:r>
              <a:rPr lang="ru-RU" sz="2400" dirty="0" smtClean="0"/>
              <a:t>Выражение </a:t>
            </a:r>
            <a:r>
              <a:rPr lang="ru-RU" sz="2400" dirty="0" smtClean="0"/>
              <a:t>для этой </a:t>
            </a:r>
            <a:r>
              <a:rPr lang="ru-RU" sz="2400" dirty="0" smtClean="0"/>
              <a:t>величины, исходя из геометрического закона распределения, </a:t>
            </a:r>
            <a:r>
              <a:rPr lang="ru-RU" sz="2400" dirty="0" smtClean="0"/>
              <a:t>будет выглядеть </a:t>
            </a:r>
            <a:r>
              <a:rPr lang="ru-RU" sz="2400" dirty="0" smtClean="0"/>
              <a:t>так:</a:t>
            </a:r>
          </a:p>
          <a:p>
            <a:pPr algn="ctr"/>
            <a:r>
              <a:rPr lang="de-DE" sz="2400" i="1" dirty="0" smtClean="0"/>
              <a:t>E(X 2) = 1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p + 2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</a:t>
            </a:r>
            <a:r>
              <a:rPr lang="de-DE" sz="2400" i="1" dirty="0" err="1" smtClean="0"/>
              <a:t>qp</a:t>
            </a:r>
            <a:r>
              <a:rPr lang="de-DE" sz="2400" i="1" dirty="0" smtClean="0"/>
              <a:t> + 3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</a:t>
            </a:r>
            <a:r>
              <a:rPr lang="de-DE" sz="2400" i="1" dirty="0" err="1" smtClean="0"/>
              <a:t>q</a:t>
            </a:r>
            <a:r>
              <a:rPr lang="de-DE" sz="2400" i="1" baseline="30000" dirty="0" err="1" smtClean="0"/>
              <a:t>2</a:t>
            </a:r>
            <a:r>
              <a:rPr lang="de-DE" sz="2400" i="1" dirty="0" err="1" smtClean="0"/>
              <a:t>p</a:t>
            </a:r>
            <a:r>
              <a:rPr lang="de-DE" sz="2400" i="1" dirty="0" smtClean="0"/>
              <a:t> + 4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</a:t>
            </a:r>
            <a:r>
              <a:rPr lang="de-DE" sz="2400" i="1" dirty="0" err="1" smtClean="0"/>
              <a:t>q</a:t>
            </a:r>
            <a:r>
              <a:rPr lang="de-DE" sz="2400" i="1" baseline="30000" dirty="0" err="1" smtClean="0"/>
              <a:t>3</a:t>
            </a:r>
            <a:r>
              <a:rPr lang="de-DE" sz="2400" i="1" dirty="0" err="1" smtClean="0"/>
              <a:t>p</a:t>
            </a:r>
            <a:r>
              <a:rPr lang="de-DE" sz="2400" i="1" dirty="0" smtClean="0"/>
              <a:t> + … .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6050" y="3500438"/>
            <a:ext cx="3243251" cy="3123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0" y="142852"/>
            <a:ext cx="9072594" cy="714380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Дисперсия геометрического распределения</a:t>
            </a:r>
            <a:endParaRPr lang="ru-RU" sz="3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4282" y="928670"/>
            <a:ext cx="87868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Чтобы вычислить дисперсию </a:t>
            </a:r>
            <a:r>
              <a:rPr lang="ru-RU" sz="2400" i="1" dirty="0" err="1" smtClean="0"/>
              <a:t>D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) </a:t>
            </a:r>
            <a:r>
              <a:rPr lang="ru-RU" sz="2400" dirty="0" smtClean="0"/>
              <a:t>для случайной величины </a:t>
            </a:r>
            <a:r>
              <a:rPr lang="ru-RU" sz="2400" i="1" dirty="0" err="1" smtClean="0"/>
              <a:t>X</a:t>
            </a:r>
            <a:r>
              <a:rPr lang="ru-RU" sz="2400" i="1" dirty="0" smtClean="0"/>
              <a:t>, </a:t>
            </a:r>
            <a:r>
              <a:rPr lang="ru-RU" sz="2400" dirty="0" smtClean="0"/>
              <a:t>имеющей </a:t>
            </a:r>
            <a:r>
              <a:rPr lang="ru-RU" sz="2400" dirty="0" smtClean="0"/>
              <a:t>геометрическое распределение, нужно найти </a:t>
            </a:r>
            <a:r>
              <a:rPr lang="ru-RU" sz="2400" i="1" dirty="0" err="1" smtClean="0"/>
              <a:t>E</a:t>
            </a:r>
            <a:r>
              <a:rPr lang="ru-RU" sz="2400" i="1" dirty="0" smtClean="0"/>
              <a:t>(</a:t>
            </a:r>
            <a:r>
              <a:rPr lang="ru-RU" sz="2400" i="1" dirty="0" err="1" smtClean="0"/>
              <a:t>X</a:t>
            </a:r>
            <a:r>
              <a:rPr lang="ru-RU" sz="2400" i="1" baseline="30000" dirty="0" err="1" smtClean="0"/>
              <a:t>2</a:t>
            </a:r>
            <a:r>
              <a:rPr lang="ru-RU" sz="2400" i="1" dirty="0" smtClean="0"/>
              <a:t>). </a:t>
            </a:r>
            <a:r>
              <a:rPr lang="ru-RU" sz="2400" dirty="0" smtClean="0"/>
              <a:t>Выражение </a:t>
            </a:r>
            <a:r>
              <a:rPr lang="ru-RU" sz="2400" dirty="0" smtClean="0"/>
              <a:t>для этой </a:t>
            </a:r>
            <a:r>
              <a:rPr lang="ru-RU" sz="2400" dirty="0" smtClean="0"/>
              <a:t>величины, исходя из геометрического закона распределения, </a:t>
            </a:r>
            <a:r>
              <a:rPr lang="ru-RU" sz="2400" dirty="0" smtClean="0"/>
              <a:t>будет выглядеть </a:t>
            </a:r>
            <a:r>
              <a:rPr lang="ru-RU" sz="2400" dirty="0" smtClean="0"/>
              <a:t>так:</a:t>
            </a:r>
          </a:p>
          <a:p>
            <a:pPr algn="ctr"/>
            <a:r>
              <a:rPr lang="de-DE" sz="2400" i="1" dirty="0" smtClean="0"/>
              <a:t>E(X 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) = 1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p + 2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</a:t>
            </a:r>
            <a:r>
              <a:rPr lang="de-DE" sz="2400" i="1" dirty="0" err="1" smtClean="0"/>
              <a:t>qp</a:t>
            </a:r>
            <a:r>
              <a:rPr lang="de-DE" sz="2400" i="1" dirty="0" smtClean="0"/>
              <a:t> + 3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</a:t>
            </a:r>
            <a:r>
              <a:rPr lang="de-DE" sz="2400" i="1" dirty="0" err="1" smtClean="0"/>
              <a:t>q</a:t>
            </a:r>
            <a:r>
              <a:rPr lang="de-DE" sz="2400" i="1" baseline="30000" dirty="0" err="1" smtClean="0"/>
              <a:t>2</a:t>
            </a:r>
            <a:r>
              <a:rPr lang="de-DE" sz="2400" i="1" dirty="0" err="1" smtClean="0"/>
              <a:t>p</a:t>
            </a:r>
            <a:r>
              <a:rPr lang="de-DE" sz="2400" i="1" dirty="0" smtClean="0"/>
              <a:t> + 4</a:t>
            </a:r>
            <a:r>
              <a:rPr lang="de-DE" sz="2400" i="1" baseline="30000" dirty="0" smtClean="0"/>
              <a:t>2</a:t>
            </a:r>
            <a:r>
              <a:rPr lang="de-DE" sz="2400" i="1" dirty="0" smtClean="0"/>
              <a:t> ∙ </a:t>
            </a:r>
            <a:r>
              <a:rPr lang="de-DE" sz="2400" i="1" dirty="0" err="1" smtClean="0"/>
              <a:t>q</a:t>
            </a:r>
            <a:r>
              <a:rPr lang="de-DE" sz="2400" i="1" baseline="30000" dirty="0" err="1" smtClean="0"/>
              <a:t>3</a:t>
            </a:r>
            <a:r>
              <a:rPr lang="de-DE" sz="2400" i="1" dirty="0" err="1" smtClean="0"/>
              <a:t>p</a:t>
            </a:r>
            <a:r>
              <a:rPr lang="de-DE" sz="2400" i="1" dirty="0" smtClean="0"/>
              <a:t> + … </a:t>
            </a:r>
            <a:r>
              <a:rPr lang="de-DE" sz="2400" i="1" dirty="0" smtClean="0"/>
              <a:t>.</a:t>
            </a:r>
            <a:endParaRPr lang="ru-RU" sz="2400" i="1" dirty="0" smtClean="0"/>
          </a:p>
          <a:p>
            <a:r>
              <a:rPr lang="ru-RU" sz="2400" dirty="0" smtClean="0"/>
              <a:t>Запишем эти слагаемые в таблицу. В </a:t>
            </a:r>
            <a:r>
              <a:rPr lang="ru-RU" sz="2400" dirty="0" smtClean="0"/>
              <a:t>ней любой </a:t>
            </a:r>
            <a:r>
              <a:rPr lang="ru-RU" sz="2400" i="1" dirty="0" err="1" smtClean="0"/>
              <a:t>k-й</a:t>
            </a:r>
            <a:r>
              <a:rPr lang="ru-RU" sz="2400" i="1" dirty="0" smtClean="0"/>
              <a:t> </a:t>
            </a:r>
            <a:r>
              <a:rPr lang="ru-RU" sz="2400" dirty="0" smtClean="0"/>
              <a:t>столбец содержит на </a:t>
            </a:r>
            <a:r>
              <a:rPr lang="ru-RU" sz="2400" i="1" dirty="0" err="1" smtClean="0"/>
              <a:t>k</a:t>
            </a:r>
            <a:r>
              <a:rPr lang="ru-RU" sz="2400" i="1" baseline="30000" dirty="0" err="1" smtClean="0"/>
              <a:t>2</a:t>
            </a:r>
            <a:r>
              <a:rPr lang="ru-RU" sz="2400" i="1" dirty="0" smtClean="0"/>
              <a:t> – (</a:t>
            </a:r>
            <a:r>
              <a:rPr lang="ru-RU" sz="2400" i="1" dirty="0" err="1" smtClean="0"/>
              <a:t>k</a:t>
            </a:r>
            <a:r>
              <a:rPr lang="ru-RU" sz="2400" i="1" dirty="0" smtClean="0"/>
              <a:t> – 1)</a:t>
            </a:r>
            <a:r>
              <a:rPr lang="ru-RU" sz="2400" i="1" baseline="30000" dirty="0" smtClean="0"/>
              <a:t>2</a:t>
            </a:r>
            <a:r>
              <a:rPr lang="ru-RU" sz="2400" i="1" dirty="0" smtClean="0"/>
              <a:t> = </a:t>
            </a:r>
            <a:r>
              <a:rPr lang="ru-RU" sz="2400" i="1" dirty="0" err="1" smtClean="0"/>
              <a:t>2k</a:t>
            </a:r>
            <a:r>
              <a:rPr lang="ru-RU" sz="2400" i="1" dirty="0" smtClean="0"/>
              <a:t> – 1 </a:t>
            </a:r>
            <a:r>
              <a:rPr lang="ru-RU" sz="2400" dirty="0" smtClean="0"/>
              <a:t>больше чисел</a:t>
            </a:r>
            <a:r>
              <a:rPr lang="ru-RU" sz="2400" dirty="0" smtClean="0"/>
              <a:t>, чем </a:t>
            </a:r>
            <a:r>
              <a:rPr lang="ru-RU" sz="2400" dirty="0" smtClean="0"/>
              <a:t>предыдущий. 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3714752"/>
            <a:ext cx="3143272" cy="3026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0" y="142852"/>
            <a:ext cx="9072594" cy="714380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Дисперсия геометрического распределения</a:t>
            </a:r>
            <a:endParaRPr lang="ru-RU" sz="3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57126" y="1785926"/>
            <a:ext cx="8786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Для этой суммы составим ещё одну таблицу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000108"/>
            <a:ext cx="8824524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5214950"/>
            <a:ext cx="665797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71670" y="2357430"/>
            <a:ext cx="4638690" cy="267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0" y="142852"/>
            <a:ext cx="9072594" cy="714380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Дисперсия геометрического распределения</a:t>
            </a:r>
            <a:endParaRPr lang="ru-RU" sz="3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42844" y="1000108"/>
            <a:ext cx="8786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Вычислим дисперсию</a:t>
            </a:r>
            <a:r>
              <a:rPr lang="en-US" sz="2400" dirty="0" smtClean="0"/>
              <a:t> </a:t>
            </a:r>
            <a:r>
              <a:rPr lang="ru-RU" sz="2400" dirty="0" smtClean="0"/>
              <a:t>геометрического </a:t>
            </a:r>
            <a:r>
              <a:rPr lang="ru-RU" sz="2400" dirty="0" smtClean="0"/>
              <a:t>распределения</a:t>
            </a:r>
            <a:r>
              <a:rPr lang="en-US" sz="2400" dirty="0" smtClean="0"/>
              <a:t>: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1500174"/>
            <a:ext cx="5257513" cy="66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2285992"/>
            <a:ext cx="1295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3143248"/>
            <a:ext cx="90011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1. </a:t>
            </a:r>
            <a:endParaRPr lang="ru-RU" sz="2400" dirty="0" smtClean="0"/>
          </a:p>
          <a:p>
            <a:r>
              <a:rPr lang="ru-RU" sz="2400" dirty="0" smtClean="0"/>
              <a:t>Найдём </a:t>
            </a:r>
            <a:r>
              <a:rPr lang="ru-RU" sz="2400" dirty="0" smtClean="0"/>
              <a:t>дисперсию числа испытаний с монетой до появления первого орла.</a:t>
            </a:r>
          </a:p>
          <a:p>
            <a:r>
              <a:rPr lang="ru-RU" sz="2400" dirty="0" smtClean="0"/>
              <a:t>Поскольку здесь </a:t>
            </a:r>
            <a:r>
              <a:rPr lang="ru-RU" sz="2400" i="1" dirty="0" err="1" smtClean="0"/>
              <a:t>p</a:t>
            </a:r>
            <a:r>
              <a:rPr lang="ru-RU" sz="2400" i="1" dirty="0" smtClean="0"/>
              <a:t> = </a:t>
            </a:r>
            <a:r>
              <a:rPr lang="ru-RU" sz="2400" i="1" dirty="0" err="1" smtClean="0"/>
              <a:t>q</a:t>
            </a:r>
            <a:r>
              <a:rPr lang="ru-RU" sz="2400" i="1" dirty="0" smtClean="0"/>
              <a:t> = </a:t>
            </a:r>
            <a:r>
              <a:rPr lang="ru-RU" sz="2400" i="1" dirty="0" smtClean="0"/>
              <a:t>1</a:t>
            </a:r>
            <a:r>
              <a:rPr lang="en-US" sz="2400" i="1" dirty="0" smtClean="0"/>
              <a:t>/</a:t>
            </a:r>
            <a:r>
              <a:rPr lang="ru-RU" sz="2400" i="1" dirty="0" smtClean="0"/>
              <a:t>2</a:t>
            </a:r>
            <a:r>
              <a:rPr lang="ru-RU" sz="2400" dirty="0" smtClean="0"/>
              <a:t>, </a:t>
            </a:r>
            <a:r>
              <a:rPr lang="ru-RU" sz="2400" dirty="0" smtClean="0"/>
              <a:t>то дисперсия будет равна </a:t>
            </a:r>
            <a:r>
              <a:rPr lang="ru-RU" sz="2400" i="1" dirty="0" err="1" smtClean="0"/>
              <a:t>q</a:t>
            </a:r>
            <a:r>
              <a:rPr lang="en-US" sz="2400" i="1" dirty="0" smtClean="0"/>
              <a:t>/</a:t>
            </a:r>
            <a:r>
              <a:rPr lang="de-DE" sz="2400" i="1" dirty="0" err="1" smtClean="0"/>
              <a:t>p</a:t>
            </a:r>
            <a:r>
              <a:rPr lang="de-DE" sz="2400" i="1" baseline="30000" dirty="0" err="1" smtClean="0"/>
              <a:t>2</a:t>
            </a:r>
            <a:r>
              <a:rPr lang="de-DE" sz="2400" i="1" dirty="0" smtClean="0"/>
              <a:t> </a:t>
            </a:r>
            <a:r>
              <a:rPr lang="de-DE" sz="2400" i="1" dirty="0" smtClean="0"/>
              <a:t>= </a:t>
            </a:r>
            <a:r>
              <a:rPr lang="de-DE" sz="2400" i="1" dirty="0" smtClean="0"/>
              <a:t>4/2</a:t>
            </a:r>
            <a:r>
              <a:rPr lang="ru-RU" sz="2400" dirty="0" smtClean="0"/>
              <a:t>= </a:t>
            </a:r>
            <a:r>
              <a:rPr lang="ru-RU" sz="2400" dirty="0" smtClean="0"/>
              <a:t>2.</a:t>
            </a:r>
          </a:p>
          <a:p>
            <a:r>
              <a:rPr lang="ru-RU" sz="2400" dirty="0" smtClean="0"/>
              <a:t>Тогда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err="1" smtClean="0">
                <a:latin typeface="Times New Roman"/>
                <a:cs typeface="Times New Roman"/>
              </a:rPr>
              <a:t>=√2</a:t>
            </a:r>
            <a:r>
              <a:rPr lang="ru-RU" sz="2400" i="1" dirty="0" smtClean="0"/>
              <a:t> ≈1,41</a:t>
            </a:r>
            <a:r>
              <a:rPr lang="ru-RU" sz="2400" dirty="0" smtClean="0"/>
              <a:t>. Поскольку математическое ожидание числа </a:t>
            </a:r>
            <a:r>
              <a:rPr lang="ru-RU" sz="2400" dirty="0" smtClean="0"/>
              <a:t>испытаний </a:t>
            </a:r>
            <a:r>
              <a:rPr lang="ru-RU" sz="2400" dirty="0" smtClean="0"/>
              <a:t>до первого успеха равно </a:t>
            </a:r>
            <a:r>
              <a:rPr lang="ru-RU" sz="2400" dirty="0" smtClean="0"/>
              <a:t>1/</a:t>
            </a:r>
            <a:r>
              <a:rPr lang="ru-RU" sz="2400" i="1" dirty="0" err="1" smtClean="0"/>
              <a:t>p</a:t>
            </a:r>
            <a:r>
              <a:rPr lang="ru-RU" sz="2400" dirty="0" err="1" smtClean="0"/>
              <a:t>=2</a:t>
            </a:r>
            <a:r>
              <a:rPr lang="ru-RU" sz="2400" dirty="0" smtClean="0"/>
              <a:t>, то интервал «трёх сигм» получится </a:t>
            </a:r>
            <a:r>
              <a:rPr lang="ru-RU" sz="2400" dirty="0" smtClean="0"/>
              <a:t>от</a:t>
            </a:r>
            <a:r>
              <a:rPr lang="en-US" sz="2400" dirty="0" smtClean="0"/>
              <a:t> </a:t>
            </a:r>
            <a:r>
              <a:rPr lang="ru-RU" sz="2400" dirty="0" smtClean="0"/>
              <a:t>1 </a:t>
            </a:r>
            <a:r>
              <a:rPr lang="ru-RU" sz="2400" dirty="0" smtClean="0"/>
              <a:t>до 6 </a:t>
            </a:r>
            <a:r>
              <a:rPr lang="ru-RU" sz="2400" dirty="0" smtClean="0"/>
              <a:t>(его левая граница сдвинута в </a:t>
            </a:r>
            <a:r>
              <a:rPr lang="ru-RU" sz="2400" dirty="0" smtClean="0"/>
              <a:t>1</a:t>
            </a:r>
            <a:r>
              <a:rPr lang="ru-RU" sz="2400" dirty="0" smtClean="0"/>
              <a:t>). </a:t>
            </a:r>
          </a:p>
          <a:p>
            <a:r>
              <a:rPr lang="ru-RU" sz="2400" dirty="0" smtClean="0"/>
              <a:t>Это значит, что в </a:t>
            </a:r>
            <a:r>
              <a:rPr lang="ru-RU" sz="2400" dirty="0" smtClean="0"/>
              <a:t>среднем понадобится всего два испытания, </a:t>
            </a:r>
            <a:r>
              <a:rPr lang="ru-RU" sz="2400" dirty="0" smtClean="0"/>
              <a:t>а ожидание </a:t>
            </a:r>
            <a:r>
              <a:rPr lang="ru-RU" sz="2400" dirty="0" smtClean="0"/>
              <a:t>«</a:t>
            </a:r>
            <a:r>
              <a:rPr lang="ru-RU" sz="2400" dirty="0" smtClean="0"/>
              <a:t>успеха</a:t>
            </a:r>
            <a:r>
              <a:rPr lang="ru-RU" sz="2400" dirty="0" smtClean="0"/>
              <a:t>» может вполне продлиться до 6 испытаний</a:t>
            </a:r>
            <a:r>
              <a:rPr lang="ru-RU" sz="2400" dirty="0" smtClean="0"/>
              <a:t>.</a:t>
            </a:r>
            <a:endParaRPr lang="ru-RU" sz="2400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0" y="142852"/>
            <a:ext cx="9072594" cy="714380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Дисперсия геометрического распределения</a:t>
            </a:r>
            <a:endParaRPr lang="ru-RU" sz="3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42844" y="1285860"/>
            <a:ext cx="88583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 2. </a:t>
            </a:r>
            <a:endParaRPr lang="ru-RU" sz="2400" dirty="0" smtClean="0"/>
          </a:p>
          <a:p>
            <a:r>
              <a:rPr lang="ru-RU" sz="2400" dirty="0" smtClean="0"/>
              <a:t>Найдём </a:t>
            </a:r>
            <a:r>
              <a:rPr lang="ru-RU" sz="2400" dirty="0" smtClean="0"/>
              <a:t>дисперсию числа испытаний с кубиком до появления первой </a:t>
            </a:r>
            <a:r>
              <a:rPr lang="ru-RU" sz="2400" dirty="0" smtClean="0"/>
              <a:t>шестёрки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Здесь </a:t>
            </a:r>
            <a:r>
              <a:rPr lang="de-DE" sz="2400" i="1" dirty="0" smtClean="0"/>
              <a:t>p = </a:t>
            </a:r>
            <a:r>
              <a:rPr lang="de-DE" sz="2400" i="1" dirty="0" smtClean="0"/>
              <a:t>1</a:t>
            </a:r>
            <a:r>
              <a:rPr lang="ru-RU" sz="2400" i="1" dirty="0" smtClean="0"/>
              <a:t>/</a:t>
            </a:r>
            <a:r>
              <a:rPr lang="de-DE" sz="2400" i="1" dirty="0" smtClean="0"/>
              <a:t>6</a:t>
            </a:r>
            <a:r>
              <a:rPr lang="de-DE" sz="2400" dirty="0" smtClean="0"/>
              <a:t>, </a:t>
            </a:r>
            <a:r>
              <a:rPr lang="de-DE" sz="2400" i="1" dirty="0" smtClean="0"/>
              <a:t>q = </a:t>
            </a:r>
            <a:r>
              <a:rPr lang="de-DE" sz="2400" i="1" dirty="0" smtClean="0"/>
              <a:t>5</a:t>
            </a:r>
            <a:r>
              <a:rPr lang="ru-RU" sz="2400" i="1" dirty="0" smtClean="0"/>
              <a:t>/</a:t>
            </a:r>
            <a:r>
              <a:rPr lang="de-DE" sz="2400" i="1" dirty="0" smtClean="0"/>
              <a:t>6</a:t>
            </a:r>
            <a:r>
              <a:rPr lang="ru-RU" sz="2400" dirty="0" smtClean="0"/>
              <a:t>, </a:t>
            </a:r>
            <a:r>
              <a:rPr lang="ru-RU" sz="2400" dirty="0" smtClean="0"/>
              <a:t>поэтому дисперсия будет </a:t>
            </a:r>
            <a:r>
              <a:rPr lang="ru-RU" sz="2400" dirty="0" smtClean="0"/>
              <a:t>равна</a:t>
            </a:r>
          </a:p>
          <a:p>
            <a:pPr algn="ctr"/>
            <a:r>
              <a:rPr lang="ru-RU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=</a:t>
            </a:r>
            <a:r>
              <a:rPr lang="ru-RU" sz="2400" i="1" dirty="0" err="1" smtClean="0"/>
              <a:t>q</a:t>
            </a:r>
            <a:r>
              <a:rPr lang="ru-RU" sz="2400" i="1" dirty="0" smtClean="0"/>
              <a:t>/</a:t>
            </a:r>
            <a:r>
              <a:rPr lang="de-DE" sz="2400" i="1" dirty="0" err="1" smtClean="0"/>
              <a:t>p</a:t>
            </a:r>
            <a:r>
              <a:rPr lang="de-DE" sz="2400" i="1" baseline="30000" dirty="0" err="1" smtClean="0"/>
              <a:t>2</a:t>
            </a:r>
            <a:r>
              <a:rPr lang="de-DE" sz="2400" i="1" dirty="0" smtClean="0"/>
              <a:t> </a:t>
            </a:r>
            <a:r>
              <a:rPr lang="de-DE" sz="2400" i="1" dirty="0" smtClean="0"/>
              <a:t>= </a:t>
            </a:r>
            <a:r>
              <a:rPr lang="de-DE" sz="2400" i="1" dirty="0" smtClean="0"/>
              <a:t>5</a:t>
            </a:r>
            <a:r>
              <a:rPr lang="ru-RU" sz="2400" i="1" dirty="0" smtClean="0"/>
              <a:t>/</a:t>
            </a:r>
            <a:r>
              <a:rPr lang="de-DE" sz="2400" i="1" dirty="0" smtClean="0"/>
              <a:t>6</a:t>
            </a:r>
            <a:r>
              <a:rPr lang="ru-RU" sz="2400" i="1" dirty="0" smtClean="0"/>
              <a:t>∙ 36 </a:t>
            </a:r>
            <a:r>
              <a:rPr lang="ru-RU" sz="2400" i="1" dirty="0" smtClean="0"/>
              <a:t>= 30.</a:t>
            </a:r>
          </a:p>
          <a:p>
            <a:r>
              <a:rPr lang="ru-RU" sz="2400" dirty="0" smtClean="0"/>
              <a:t>Тогда </a:t>
            </a:r>
            <a:r>
              <a:rPr lang="el-GR" sz="2400" i="1" dirty="0" smtClean="0">
                <a:latin typeface="Times New Roman"/>
                <a:cs typeface="Times New Roman"/>
              </a:rPr>
              <a:t>σ</a:t>
            </a:r>
            <a:r>
              <a:rPr lang="ru-RU" sz="2400" i="1" dirty="0" err="1" smtClean="0">
                <a:latin typeface="Times New Roman"/>
                <a:cs typeface="Times New Roman"/>
              </a:rPr>
              <a:t>=√30</a:t>
            </a:r>
            <a:r>
              <a:rPr lang="ru-RU" sz="2400" i="1" dirty="0" smtClean="0"/>
              <a:t> ≈5,48</a:t>
            </a:r>
            <a:r>
              <a:rPr lang="ru-RU" sz="2400" dirty="0" smtClean="0"/>
              <a:t>.</a:t>
            </a:r>
            <a:r>
              <a:rPr lang="ru-RU" sz="2400" dirty="0" smtClean="0"/>
              <a:t> </a:t>
            </a:r>
            <a:r>
              <a:rPr lang="ru-RU" sz="2400" dirty="0" smtClean="0"/>
              <a:t>Математическое ожидание равно </a:t>
            </a:r>
            <a:r>
              <a:rPr lang="ru-RU" sz="2400" dirty="0" smtClean="0"/>
              <a:t>1/</a:t>
            </a:r>
            <a:r>
              <a:rPr lang="ru-RU" sz="2400" i="1" dirty="0" err="1" smtClean="0"/>
              <a:t>p</a:t>
            </a:r>
            <a:r>
              <a:rPr lang="ru-RU" sz="2400" dirty="0" err="1" smtClean="0"/>
              <a:t>=</a:t>
            </a:r>
            <a:r>
              <a:rPr lang="ru-RU" sz="2400" dirty="0" smtClean="0"/>
              <a:t> </a:t>
            </a:r>
            <a:r>
              <a:rPr lang="ru-RU" sz="2400" dirty="0" smtClean="0"/>
              <a:t>6, а </a:t>
            </a:r>
            <a:r>
              <a:rPr lang="ru-RU" sz="2400" dirty="0" smtClean="0"/>
              <a:t>интервал </a:t>
            </a:r>
            <a:r>
              <a:rPr lang="ru-RU" sz="2400" dirty="0" smtClean="0"/>
              <a:t>«трёх сигм» получится от 1 до 22. Как видим, с кубиком дело </a:t>
            </a:r>
            <a:r>
              <a:rPr lang="ru-RU" sz="2400" dirty="0" smtClean="0"/>
              <a:t>обстоит </a:t>
            </a:r>
            <a:r>
              <a:rPr lang="ru-RU" sz="2400" dirty="0" smtClean="0"/>
              <a:t>ещё хуже: хотя в среднем успех придёт на 6 испытании, его </a:t>
            </a:r>
            <a:r>
              <a:rPr lang="ru-RU" sz="2400" dirty="0" smtClean="0"/>
              <a:t>вполне можно </a:t>
            </a:r>
            <a:r>
              <a:rPr lang="ru-RU" sz="2400" dirty="0" smtClean="0"/>
              <a:t>ждать и до </a:t>
            </a:r>
            <a:r>
              <a:rPr lang="ru-RU" sz="2400" dirty="0" smtClean="0"/>
              <a:t>22.</a:t>
            </a:r>
            <a:endParaRPr lang="ru-RU" sz="24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47036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 smtClean="0"/>
              <a:t>Чем </a:t>
            </a:r>
            <a:r>
              <a:rPr lang="ru-RU" sz="2400" dirty="0"/>
              <a:t>дискретные величины отличаются от непрерывных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/>
              <a:t>2. Приведите пример дискретной случайной величины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dirty="0"/>
              <a:t>3. Приведите пример непрерывной случайной величины.</a:t>
            </a:r>
          </a:p>
        </p:txBody>
      </p:sp>
    </p:spTree>
    <p:extLst>
      <p:ext uri="{BB962C8B-B14F-4D97-AF65-F5344CB8AC3E}">
        <p14:creationId xmlns:p14="http://schemas.microsoft.com/office/powerpoint/2010/main" xmlns="" val="1023710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26640" cy="7143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Упражнения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51519" y="1047036"/>
            <a:ext cx="87320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1. Проводятся </a:t>
            </a:r>
            <a:r>
              <a:rPr lang="ru-RU" sz="2400" i="1" dirty="0"/>
              <a:t>N </a:t>
            </a:r>
            <a:r>
              <a:rPr lang="ru-RU" sz="2400" dirty="0"/>
              <a:t>испытаний Бернулли. Случайная величина </a:t>
            </a:r>
            <a:r>
              <a:rPr lang="ru-RU" sz="2400" i="1" dirty="0"/>
              <a:t>X </a:t>
            </a:r>
            <a:r>
              <a:rPr lang="ru-RU" sz="2400" dirty="0"/>
              <a:t>равна числу успехов; </a:t>
            </a:r>
            <a:r>
              <a:rPr lang="ru-RU" sz="2400" dirty="0" smtClean="0"/>
              <a:t>случайная величина </a:t>
            </a:r>
            <a:r>
              <a:rPr lang="ru-RU" sz="2400" i="1" dirty="0"/>
              <a:t>Y </a:t>
            </a:r>
            <a:r>
              <a:rPr lang="ru-RU" sz="2400" dirty="0"/>
              <a:t>— числу неудач. Какие значения они могут принимать? Как одна из них </a:t>
            </a:r>
            <a:r>
              <a:rPr lang="ru-RU" sz="2400" dirty="0" smtClean="0"/>
              <a:t>выражается </a:t>
            </a:r>
            <a:r>
              <a:rPr lang="ru-RU" sz="2400" dirty="0"/>
              <a:t>через другую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2. </a:t>
            </a:r>
            <a:r>
              <a:rPr lang="ru-RU" sz="2400" dirty="0"/>
              <a:t>Проводятся испытания Бернулли до первого успеха. Случайная величина </a:t>
            </a:r>
            <a:r>
              <a:rPr lang="ru-RU" sz="2400" i="1" dirty="0"/>
              <a:t>I </a:t>
            </a:r>
            <a:r>
              <a:rPr lang="ru-RU" sz="2400" dirty="0"/>
              <a:t>равна 1, </a:t>
            </a:r>
            <a:r>
              <a:rPr lang="ru-RU" sz="2400" dirty="0" smtClean="0"/>
              <a:t>если первый </a:t>
            </a:r>
            <a:r>
              <a:rPr lang="ru-RU" sz="2400" dirty="0"/>
              <a:t>успех наступит на чётном испытании, 0 — если на нечётном. Какое из этих </a:t>
            </a:r>
            <a:r>
              <a:rPr lang="ru-RU" sz="2400" dirty="0" smtClean="0"/>
              <a:t>двух значений </a:t>
            </a:r>
            <a:r>
              <a:rPr lang="ru-RU" sz="2400" dirty="0"/>
              <a:t>более вероятно</a:t>
            </a:r>
            <a:r>
              <a:rPr lang="ru-RU" sz="2400" dirty="0" smtClean="0"/>
              <a:t>?</a:t>
            </a:r>
          </a:p>
          <a:p>
            <a:endParaRPr lang="ru-RU" sz="2400" dirty="0"/>
          </a:p>
          <a:p>
            <a:r>
              <a:rPr lang="ru-RU" sz="2400" dirty="0" smtClean="0"/>
              <a:t>3. </a:t>
            </a:r>
            <a:r>
              <a:rPr lang="ru-RU" sz="2400" dirty="0"/>
              <a:t>В волейболе матч продолжается, пока одна из команд не одержит победы в трёх </a:t>
            </a:r>
            <a:r>
              <a:rPr lang="ru-RU" sz="2400" dirty="0" smtClean="0"/>
              <a:t>партиях. Случайная </a:t>
            </a:r>
            <a:r>
              <a:rPr lang="ru-RU" sz="2400" dirty="0"/>
              <a:t>величина </a:t>
            </a:r>
            <a:r>
              <a:rPr lang="ru-RU" sz="2400" i="1" dirty="0" smtClean="0"/>
              <a:t>X </a:t>
            </a:r>
            <a:r>
              <a:rPr lang="ru-RU" sz="2400" dirty="0" smtClean="0"/>
              <a:t>равняется </a:t>
            </a:r>
            <a:r>
              <a:rPr lang="ru-RU" sz="2400" dirty="0"/>
              <a:t>количеству партий в волейбольном матче. Какие </a:t>
            </a:r>
            <a:r>
              <a:rPr lang="ru-RU" sz="2400" dirty="0" smtClean="0"/>
              <a:t>значения она </a:t>
            </a:r>
            <a:r>
              <a:rPr lang="ru-RU" sz="2400" dirty="0"/>
              <a:t>может принимать? Ничьих в волейбольных партиях не бывает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0859736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1642</Words>
  <Application>Microsoft Office PowerPoint</Application>
  <PresentationFormat>Экран (4:3)</PresentationFormat>
  <Paragraphs>122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Случайные величины</vt:lpstr>
      <vt:lpstr>Случайные величины</vt:lpstr>
      <vt:lpstr>Математическое ожидание</vt:lpstr>
      <vt:lpstr>Физический смысл математического ожидания</vt:lpstr>
      <vt:lpstr>Свойства математического ожидания</vt:lpstr>
      <vt:lpstr>Математическое ожидание биномиального распределения</vt:lpstr>
      <vt:lpstr>Математическое ожидание геометрического распределения</vt:lpstr>
      <vt:lpstr>Дисперсия и стандартное отклонение</vt:lpstr>
      <vt:lpstr>Свойства дисперсии</vt:lpstr>
      <vt:lpstr>Стандартное отклонение</vt:lpstr>
      <vt:lpstr>Неравенство трёх сигм</vt:lpstr>
      <vt:lpstr>Неравенство трёх сигм</vt:lpstr>
      <vt:lpstr>Неравенство трёх сигм</vt:lpstr>
      <vt:lpstr>Неравенство трёх сигм</vt:lpstr>
      <vt:lpstr>Дисперсия биномиального распределения</vt:lpstr>
      <vt:lpstr>Дисперсия геометрического распределения</vt:lpstr>
      <vt:lpstr>Дисперсия геометрического распределения</vt:lpstr>
      <vt:lpstr>Дисперсия геометрического распределения</vt:lpstr>
      <vt:lpstr>Дисперсия геометрического распределения</vt:lpstr>
      <vt:lpstr>Дисперсия геометрического распределения</vt:lpstr>
      <vt:lpstr>Вопросы</vt:lpstr>
      <vt:lpstr>Упражнения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ss</dc:creator>
  <cp:lastModifiedBy>ss</cp:lastModifiedBy>
  <cp:revision>94</cp:revision>
  <dcterms:created xsi:type="dcterms:W3CDTF">2026-01-26T09:31:29Z</dcterms:created>
  <dcterms:modified xsi:type="dcterms:W3CDTF">2026-04-26T14:50:25Z</dcterms:modified>
</cp:coreProperties>
</file>