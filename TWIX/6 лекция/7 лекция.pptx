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2" r:id="rId11"/>
    <p:sldId id="283" r:id="rId12"/>
    <p:sldId id="284" r:id="rId13"/>
    <p:sldId id="285" r:id="rId14"/>
    <p:sldId id="286" r:id="rId15"/>
    <p:sldId id="281" r:id="rId16"/>
    <p:sldId id="288" r:id="rId17"/>
    <p:sldId id="289" r:id="rId18"/>
    <p:sldId id="287" r:id="rId19"/>
    <p:sldId id="290" r:id="rId2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1686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18.03.2026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18.03.2026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18.03.2026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18.03.2026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18.03.2026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18.03.2026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25732-096D-42B1-89B6-CE64F319AE8C}" type="datetimeFigureOut">
              <a:rPr lang="ru-RU" smtClean="0"/>
              <a:pPr/>
              <a:t>18.03.2026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2844" y="142852"/>
            <a:ext cx="8572560" cy="1470025"/>
          </a:xfrm>
        </p:spPr>
        <p:txBody>
          <a:bodyPr>
            <a:normAutofit/>
          </a:bodyPr>
          <a:lstStyle/>
          <a:p>
            <a:r>
              <a:rPr lang="ru-RU" b="1" dirty="0" smtClean="0"/>
              <a:t>Случайные </a:t>
            </a:r>
            <a:r>
              <a:rPr lang="ru-RU" b="1" dirty="0"/>
              <a:t>величины</a:t>
            </a:r>
            <a:endParaRPr lang="ru-RU" sz="3800" dirty="0"/>
          </a:p>
        </p:txBody>
      </p:sp>
      <p:sp>
        <p:nvSpPr>
          <p:cNvPr id="13" name="Google Shape;59;p13"/>
          <p:cNvSpPr>
            <a:spLocks noGrp="1"/>
          </p:cNvSpPr>
          <p:nvPr>
            <p:ph type="subTitle" idx="1"/>
          </p:nvPr>
        </p:nvSpPr>
        <p:spPr>
          <a:xfrm>
            <a:off x="2843808" y="3140968"/>
            <a:ext cx="5871596" cy="328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l">
              <a:lnSpc>
                <a:spcPct val="162162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b="1" dirty="0">
                <a:solidFill>
                  <a:schemeClr val="tx1"/>
                </a:solidFill>
              </a:rPr>
              <a:t>Случайные </a:t>
            </a:r>
            <a:r>
              <a:rPr lang="ru-RU" sz="2400" b="1" dirty="0" smtClean="0">
                <a:solidFill>
                  <a:schemeClr val="tx1"/>
                </a:solidFill>
              </a:rPr>
              <a:t>величины и их распределения</a:t>
            </a:r>
          </a:p>
          <a:p>
            <a:pPr lvl="0" algn="l">
              <a:lnSpc>
                <a:spcPct val="162162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en-US" sz="2400" b="1" i="0" u="none" strike="noStrike" cap="none" dirty="0" err="1" smtClean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Преподаватель</a:t>
            </a:r>
            <a:r>
              <a:rPr lang="en-US" sz="2400" b="1" i="0" u="none" strike="noStrike" cap="none" dirty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: к.ф.-</a:t>
            </a:r>
            <a:r>
              <a:rPr lang="en-US" sz="2400" b="1" i="0" u="none" strike="noStrike" cap="none" dirty="0" err="1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м.н</a:t>
            </a:r>
            <a:r>
              <a:rPr lang="en-US" sz="2400" b="1" i="0" u="none" strike="noStrike" cap="none" dirty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. Е.В. </a:t>
            </a:r>
            <a:r>
              <a:rPr lang="en-US" sz="2400" b="1" i="0" u="none" strike="noStrike" cap="none" dirty="0" err="1" smtClean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Казанцева</a:t>
            </a:r>
            <a:endParaRPr lang="ru-RU" sz="2400" b="1" i="0" u="none" strike="noStrike" cap="none" dirty="0" smtClean="0">
              <a:solidFill>
                <a:schemeClr val="tx1"/>
              </a:solidFill>
              <a:latin typeface="+mj-lt"/>
              <a:ea typeface="PT Sans"/>
              <a:cs typeface="Arial" pitchFamily="34" charset="0"/>
              <a:sym typeface="PT Sans"/>
            </a:endParaRPr>
          </a:p>
          <a:p>
            <a:pPr algn="l">
              <a:lnSpc>
                <a:spcPct val="162162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b="1" i="0" u="none" strike="noStrike" cap="none" dirty="0" smtClean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Дата: </a:t>
            </a:r>
            <a:r>
              <a:rPr lang="ru-RU" sz="2400" b="1" i="0" u="none" strike="noStrike" cap="none" dirty="0" smtClean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март </a:t>
            </a:r>
            <a:r>
              <a:rPr lang="ru-RU" sz="2400" b="1" i="0" u="none" strike="noStrike" cap="none" dirty="0" smtClean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2026</a:t>
            </a:r>
            <a:endParaRPr lang="ru-RU" sz="2400" b="1" i="0" u="none" strike="noStrike" cap="none" dirty="0" smtClean="0">
              <a:solidFill>
                <a:schemeClr val="tx1"/>
              </a:solidFill>
              <a:latin typeface="+mj-lt"/>
              <a:cs typeface="Arial" pitchFamily="34" charset="0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endParaRPr sz="2400" b="0" i="0" u="none" strike="noStrike" cap="none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2844" y="142852"/>
            <a:ext cx="8572560" cy="1470025"/>
          </a:xfrm>
        </p:spPr>
        <p:txBody>
          <a:bodyPr>
            <a:normAutofit/>
          </a:bodyPr>
          <a:lstStyle/>
          <a:p>
            <a:r>
              <a:rPr lang="ru-RU" sz="4000" b="1" dirty="0"/>
              <a:t>Случайные величины</a:t>
            </a:r>
            <a:endParaRPr lang="ru-RU" sz="3800" dirty="0"/>
          </a:p>
        </p:txBody>
      </p:sp>
      <p:sp>
        <p:nvSpPr>
          <p:cNvPr id="13" name="Google Shape;59;p13"/>
          <p:cNvSpPr>
            <a:spLocks noGrp="1"/>
          </p:cNvSpPr>
          <p:nvPr>
            <p:ph type="subTitle" idx="1"/>
          </p:nvPr>
        </p:nvSpPr>
        <p:spPr>
          <a:xfrm>
            <a:off x="2267744" y="3284984"/>
            <a:ext cx="6734552" cy="328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dirty="0">
                <a:solidFill>
                  <a:schemeClr val="tx1"/>
                </a:solidFill>
              </a:rPr>
              <a:t>Понятие случайной </a:t>
            </a:r>
            <a:r>
              <a:rPr lang="ru-RU" sz="2400" dirty="0" smtClean="0">
                <a:solidFill>
                  <a:schemeClr val="tx1"/>
                </a:solidFill>
              </a:rPr>
              <a:t>величины</a:t>
            </a: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dirty="0">
                <a:solidFill>
                  <a:schemeClr val="tx1"/>
                </a:solidFill>
              </a:rPr>
              <a:t>Индикатор</a:t>
            </a:r>
            <a:r>
              <a:rPr lang="ru-RU" sz="2400" i="1" dirty="0">
                <a:solidFill>
                  <a:schemeClr val="tx1"/>
                </a:solidFill>
              </a:rPr>
              <a:t> </a:t>
            </a:r>
            <a:r>
              <a:rPr lang="ru-RU" sz="2400" dirty="0">
                <a:solidFill>
                  <a:schemeClr val="tx1"/>
                </a:solidFill>
              </a:rPr>
              <a:t>случайного </a:t>
            </a:r>
            <a:r>
              <a:rPr lang="ru-RU" sz="2400" dirty="0" smtClean="0">
                <a:solidFill>
                  <a:schemeClr val="tx1"/>
                </a:solidFill>
              </a:rPr>
              <a:t>события</a:t>
            </a: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dirty="0" smtClean="0">
                <a:solidFill>
                  <a:schemeClr val="tx1"/>
                </a:solidFill>
              </a:rPr>
              <a:t>Дискретные </a:t>
            </a:r>
            <a:r>
              <a:rPr lang="ru-RU" sz="2400" dirty="0">
                <a:solidFill>
                  <a:schemeClr val="tx1"/>
                </a:solidFill>
              </a:rPr>
              <a:t>и непрерывные случайные </a:t>
            </a:r>
            <a:r>
              <a:rPr lang="ru-RU" sz="2400" dirty="0" smtClean="0">
                <a:solidFill>
                  <a:schemeClr val="tx1"/>
                </a:solidFill>
              </a:rPr>
              <a:t>величины</a:t>
            </a: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dirty="0">
                <a:solidFill>
                  <a:schemeClr val="tx1"/>
                </a:solidFill>
              </a:rPr>
              <a:t>Распределение вероятностей</a:t>
            </a:r>
            <a:endParaRPr lang="ru-RU" sz="2400" dirty="0" smtClean="0">
              <a:solidFill>
                <a:schemeClr val="tx1"/>
              </a:solidFill>
            </a:endParaRPr>
          </a:p>
          <a:p>
            <a:pPr lvl="0" algn="l">
              <a:lnSpc>
                <a:spcPct val="162162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endParaRPr lang="ru-RU" sz="2400" dirty="0">
              <a:solidFill>
                <a:schemeClr val="tx1"/>
              </a:solidFill>
              <a:latin typeface="+mj-lt"/>
              <a:ea typeface="PT Sans"/>
              <a:cs typeface="Arial" pitchFamily="34" charset="0"/>
              <a:sym typeface="PT Sans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endParaRPr sz="2400" b="0" i="0" u="none" strike="noStrike" cap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Google Shape;67;p14"/>
          <p:cNvSpPr/>
          <p:nvPr/>
        </p:nvSpPr>
        <p:spPr>
          <a:xfrm>
            <a:off x="3929058" y="2500306"/>
            <a:ext cx="4329589" cy="541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3400"/>
              <a:buFont typeface="Nunito"/>
              <a:buNone/>
            </a:pPr>
            <a:r>
              <a:rPr lang="en-US" sz="3400" b="0" i="0" u="none" strike="noStrike" cap="none" dirty="0" err="1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План</a:t>
            </a:r>
            <a:r>
              <a:rPr lang="en-US" sz="3400" b="0" i="0" u="none" strike="noStrike" cap="none" dirty="0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3400" b="0" i="0" u="none" strike="noStrike" cap="none" dirty="0" err="1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презентации</a:t>
            </a:r>
            <a:endParaRPr sz="3400" b="0" i="0" u="none" strike="noStrike" cap="non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752664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Понятие случайной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Случайной величиной называется числовая величина, значение которой </a:t>
            </a:r>
            <a:r>
              <a:rPr lang="ru-RU" sz="2400" dirty="0" smtClean="0"/>
              <a:t>однозначно определяется </a:t>
            </a:r>
            <a:r>
              <a:rPr lang="ru-RU" sz="2400" dirty="0"/>
              <a:t>исходом случайного эксперимента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В алгебре числовые величины обозначаются обычно строчными </a:t>
            </a:r>
            <a:r>
              <a:rPr lang="ru-RU" sz="2400" dirty="0" smtClean="0"/>
              <a:t>латинскими </a:t>
            </a:r>
            <a:r>
              <a:rPr lang="ru-RU" sz="2400" dirty="0"/>
              <a:t>буквами, например: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/>
              <a:t>t</a:t>
            </a:r>
            <a:r>
              <a:rPr lang="ru-RU" sz="2400" dirty="0"/>
              <a:t>, </a:t>
            </a:r>
            <a:r>
              <a:rPr lang="ru-RU" sz="2400" i="1" dirty="0"/>
              <a:t>s</a:t>
            </a:r>
            <a:r>
              <a:rPr lang="ru-RU" sz="2400" dirty="0"/>
              <a:t>. Чтобы не путать </a:t>
            </a:r>
            <a:r>
              <a:rPr lang="ru-RU" sz="2400" dirty="0" smtClean="0"/>
              <a:t>случайные </a:t>
            </a:r>
            <a:r>
              <a:rPr lang="ru-RU" sz="2400" dirty="0"/>
              <a:t>величины с неслучайными, мы будем обозначать их </a:t>
            </a:r>
            <a:r>
              <a:rPr lang="ru-RU" sz="2400" dirty="0" smtClean="0"/>
              <a:t>заглавными латинскими </a:t>
            </a:r>
            <a:r>
              <a:rPr lang="ru-RU" sz="2400" dirty="0"/>
              <a:t>буквами: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 smtClean="0"/>
              <a:t>T</a:t>
            </a:r>
            <a:r>
              <a:rPr lang="ru-RU" sz="2400" dirty="0" smtClean="0"/>
              <a:t>, </a:t>
            </a:r>
            <a:r>
              <a:rPr lang="ru-RU" sz="2400" i="1" dirty="0" smtClean="0"/>
              <a:t>S </a:t>
            </a:r>
            <a:r>
              <a:rPr lang="ru-RU" sz="2400" dirty="0" smtClean="0"/>
              <a:t>и </a:t>
            </a:r>
            <a:r>
              <a:rPr lang="ru-RU" sz="2400" dirty="0"/>
              <a:t>т. д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752664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Понятие случайной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Пример </a:t>
            </a:r>
            <a:r>
              <a:rPr lang="ru-RU" sz="2400" dirty="0"/>
              <a:t>1. Подбрасывают два игральных кубика.</a:t>
            </a:r>
          </a:p>
          <a:p>
            <a:r>
              <a:rPr lang="ru-RU" sz="2400" dirty="0"/>
              <a:t>Исходом такого опыта является пара чисел, выпавших на кубиках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С этой парой можно связать много разных случайных величин, например:</a:t>
            </a:r>
          </a:p>
          <a:p>
            <a:r>
              <a:rPr lang="ru-RU" sz="2400" i="1" dirty="0"/>
              <a:t>X </a:t>
            </a:r>
            <a:r>
              <a:rPr lang="ru-RU" sz="2400" dirty="0"/>
              <a:t>— число, выпавшее на первом кубике;</a:t>
            </a:r>
          </a:p>
          <a:p>
            <a:r>
              <a:rPr lang="ru-RU" sz="2400" i="1" dirty="0"/>
              <a:t>Y </a:t>
            </a:r>
            <a:r>
              <a:rPr lang="ru-RU" sz="2400" dirty="0"/>
              <a:t>— число, выпавшее на втором </a:t>
            </a:r>
            <a:r>
              <a:rPr lang="ru-RU" sz="2400" dirty="0" smtClean="0"/>
              <a:t>кубике</a:t>
            </a:r>
          </a:p>
          <a:p>
            <a:r>
              <a:rPr lang="ru-RU" sz="2400" i="1" dirty="0" smtClean="0"/>
              <a:t>S </a:t>
            </a:r>
            <a:r>
              <a:rPr lang="ru-RU" sz="2400" dirty="0"/>
              <a:t>— сумма чисел, выпавших на кубиках;</a:t>
            </a:r>
          </a:p>
          <a:p>
            <a:r>
              <a:rPr lang="ru-RU" sz="2400" i="1" dirty="0"/>
              <a:t>R </a:t>
            </a:r>
            <a:r>
              <a:rPr lang="ru-RU" sz="2400" dirty="0"/>
              <a:t>— произведение чисел, выпавших на кубиках;</a:t>
            </a:r>
          </a:p>
          <a:p>
            <a:r>
              <a:rPr lang="ru-RU" sz="2400" i="1" dirty="0"/>
              <a:t>W </a:t>
            </a:r>
            <a:r>
              <a:rPr lang="ru-RU" sz="2400" dirty="0"/>
              <a:t>— наибольшее из чисел, выпавших на кубиках;</a:t>
            </a:r>
          </a:p>
          <a:p>
            <a:r>
              <a:rPr lang="ru-RU" sz="2400" i="1" dirty="0"/>
              <a:t>V </a:t>
            </a:r>
            <a:r>
              <a:rPr lang="ru-RU" sz="2400" dirty="0"/>
              <a:t>— наименьшее из чисел, выпавших на </a:t>
            </a:r>
            <a:r>
              <a:rPr lang="ru-RU" sz="2400" dirty="0" smtClean="0"/>
              <a:t>кубиках.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9488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752664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Понятие случайной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С </a:t>
            </a:r>
            <a:r>
              <a:rPr lang="ru-RU" sz="2400" dirty="0"/>
              <a:t>одним и тем же опытом можно связать много </a:t>
            </a:r>
            <a:r>
              <a:rPr lang="ru-RU" sz="2400" dirty="0" smtClean="0"/>
              <a:t>разных случайных величин.</a:t>
            </a:r>
            <a:endParaRPr lang="ru-RU" sz="2400" dirty="0"/>
          </a:p>
          <a:p>
            <a:r>
              <a:rPr lang="ru-RU" sz="2400" dirty="0"/>
              <a:t>Если мы укажем конкретный исход, которым завершился </a:t>
            </a:r>
            <a:r>
              <a:rPr lang="ru-RU" sz="2400" dirty="0" smtClean="0"/>
              <a:t>случайный опыт</a:t>
            </a:r>
            <a:r>
              <a:rPr lang="ru-RU" sz="2400" dirty="0"/>
              <a:t>, то можно будет найти значения всех перечисленных величин. </a:t>
            </a:r>
            <a:r>
              <a:rPr lang="ru-RU" sz="2400" dirty="0" smtClean="0"/>
              <a:t>Например</a:t>
            </a:r>
            <a:r>
              <a:rPr lang="ru-RU" sz="2400" dirty="0"/>
              <a:t>, для исхода (3; 5) значения этих величин будут следующими:</a:t>
            </a:r>
          </a:p>
          <a:p>
            <a:r>
              <a:rPr lang="en-US" sz="2400" i="1" dirty="0"/>
              <a:t>X </a:t>
            </a:r>
            <a:r>
              <a:rPr lang="en-US" sz="2400" dirty="0"/>
              <a:t>= 3; </a:t>
            </a:r>
            <a:r>
              <a:rPr lang="en-US" sz="2400" i="1" dirty="0"/>
              <a:t>Y </a:t>
            </a:r>
            <a:r>
              <a:rPr lang="en-US" sz="2400" dirty="0"/>
              <a:t>= 5; </a:t>
            </a:r>
            <a:r>
              <a:rPr lang="en-US" sz="2400" i="1" dirty="0"/>
              <a:t>S </a:t>
            </a:r>
            <a:r>
              <a:rPr lang="en-US" sz="2400" dirty="0"/>
              <a:t>= 8; </a:t>
            </a:r>
            <a:r>
              <a:rPr lang="en-US" sz="2400" i="1" dirty="0"/>
              <a:t>R </a:t>
            </a:r>
            <a:r>
              <a:rPr lang="en-US" sz="2400" dirty="0"/>
              <a:t>= 15; </a:t>
            </a:r>
            <a:r>
              <a:rPr lang="en-US" sz="2400" i="1" dirty="0"/>
              <a:t>W </a:t>
            </a:r>
            <a:r>
              <a:rPr lang="en-US" sz="2400" dirty="0"/>
              <a:t>= 5; </a:t>
            </a:r>
            <a:r>
              <a:rPr lang="en-US" sz="2400" i="1" dirty="0"/>
              <a:t>V </a:t>
            </a:r>
            <a:r>
              <a:rPr lang="en-US" sz="2400" dirty="0"/>
              <a:t>= 3.</a:t>
            </a:r>
          </a:p>
          <a:p>
            <a:r>
              <a:rPr lang="ru-RU" sz="2400" dirty="0" smtClean="0"/>
              <a:t>Одна </a:t>
            </a:r>
            <a:r>
              <a:rPr lang="ru-RU" sz="2400" dirty="0"/>
              <a:t>случайная величина может выражаться </a:t>
            </a:r>
            <a:r>
              <a:rPr lang="ru-RU" sz="2400" dirty="0" smtClean="0"/>
              <a:t>через другую </a:t>
            </a:r>
            <a:r>
              <a:rPr lang="ru-RU" sz="2400" dirty="0"/>
              <a:t>или несколько других величин. </a:t>
            </a:r>
            <a:endParaRPr lang="ru-RU" sz="2400" dirty="0" smtClean="0"/>
          </a:p>
          <a:p>
            <a:r>
              <a:rPr lang="ru-RU" sz="2400" dirty="0" smtClean="0"/>
              <a:t>Можно увидеть такие </a:t>
            </a:r>
            <a:r>
              <a:rPr lang="ru-RU" sz="2400" dirty="0"/>
              <a:t>соотношения между </a:t>
            </a:r>
            <a:r>
              <a:rPr lang="ru-RU" sz="2400" dirty="0" smtClean="0"/>
              <a:t>величинами: </a:t>
            </a:r>
          </a:p>
          <a:p>
            <a:r>
              <a:rPr lang="pl-PL" sz="2400" i="1" dirty="0" smtClean="0"/>
              <a:t>S </a:t>
            </a:r>
            <a:r>
              <a:rPr lang="pl-PL" sz="2400" i="1" dirty="0"/>
              <a:t>= X + Y = W + V</a:t>
            </a:r>
            <a:r>
              <a:rPr lang="pl-PL" sz="2400" dirty="0"/>
              <a:t>, </a:t>
            </a:r>
            <a:r>
              <a:rPr lang="pl-PL" sz="2400" i="1" dirty="0"/>
              <a:t>R = X ∙ Y = W ∙ V</a:t>
            </a:r>
            <a:r>
              <a:rPr lang="pl-PL" sz="2400" dirty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78726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752664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Понятие случайной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Пример 2. </a:t>
            </a:r>
            <a:r>
              <a:rPr lang="ru-RU" sz="2400" dirty="0"/>
              <a:t>Монету подбрасывают 10 раз подряд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Исходом такого опыта является последовательность из 10 орлов и </a:t>
            </a:r>
            <a:r>
              <a:rPr lang="ru-RU" sz="2400" dirty="0" smtClean="0"/>
              <a:t>решек</a:t>
            </a:r>
            <a:r>
              <a:rPr lang="ru-RU" sz="2400" dirty="0"/>
              <a:t>, произвольно чередующихся между собой. Здесь </a:t>
            </a:r>
            <a:r>
              <a:rPr lang="ru-RU" sz="2400" dirty="0" smtClean="0"/>
              <a:t>можно рассмотреть </a:t>
            </a:r>
            <a:r>
              <a:rPr lang="ru-RU" sz="2400" dirty="0"/>
              <a:t>такие случайные величины:</a:t>
            </a:r>
          </a:p>
          <a:p>
            <a:r>
              <a:rPr lang="en-US" sz="2400" i="1" dirty="0"/>
              <a:t>X </a:t>
            </a:r>
            <a:r>
              <a:rPr lang="en-US" sz="2400" dirty="0"/>
              <a:t>— </a:t>
            </a:r>
            <a:r>
              <a:rPr lang="ru-RU" sz="2400" dirty="0"/>
              <a:t>число выпавших орлов;</a:t>
            </a:r>
          </a:p>
          <a:p>
            <a:r>
              <a:rPr lang="en-US" sz="2400" i="1" dirty="0"/>
              <a:t>Y </a:t>
            </a:r>
            <a:r>
              <a:rPr lang="en-US" sz="2400" dirty="0"/>
              <a:t>— </a:t>
            </a:r>
            <a:r>
              <a:rPr lang="ru-RU" sz="2400" dirty="0"/>
              <a:t>число выпавших решек;</a:t>
            </a:r>
          </a:p>
          <a:p>
            <a:r>
              <a:rPr lang="ru-RU" sz="2400" i="1" dirty="0"/>
              <a:t>L </a:t>
            </a:r>
            <a:r>
              <a:rPr lang="ru-RU" sz="2400" dirty="0"/>
              <a:t>— длина самой длинной серии из идущих подряд орлов.</a:t>
            </a:r>
          </a:p>
          <a:p>
            <a:r>
              <a:rPr lang="ru-RU" sz="2400" dirty="0"/>
              <a:t>Для исхода ОРОООРОРОР эти случайные величины примут </a:t>
            </a:r>
            <a:r>
              <a:rPr lang="ru-RU" sz="2400" dirty="0" smtClean="0"/>
              <a:t>следующие значения: </a:t>
            </a:r>
            <a:r>
              <a:rPr lang="es-ES" sz="2400" i="1" dirty="0" smtClean="0"/>
              <a:t>X </a:t>
            </a:r>
            <a:r>
              <a:rPr lang="es-ES" sz="2400" dirty="0"/>
              <a:t>= 6; </a:t>
            </a:r>
            <a:r>
              <a:rPr lang="es-ES" sz="2400" i="1" dirty="0"/>
              <a:t>Y </a:t>
            </a:r>
            <a:r>
              <a:rPr lang="es-ES" sz="2400" dirty="0"/>
              <a:t>= 4; </a:t>
            </a:r>
            <a:r>
              <a:rPr lang="es-ES" sz="2400" i="1" dirty="0"/>
              <a:t>L </a:t>
            </a:r>
            <a:r>
              <a:rPr lang="es-ES" sz="2400" dirty="0"/>
              <a:t>= 3.</a:t>
            </a:r>
          </a:p>
          <a:p>
            <a:r>
              <a:rPr lang="ru-RU" sz="2400" dirty="0"/>
              <a:t>Если говорить о каких-то «неслучайных» соотношениях между </a:t>
            </a:r>
            <a:r>
              <a:rPr lang="ru-RU" sz="2400" dirty="0" smtClean="0"/>
              <a:t>этими величинами</a:t>
            </a:r>
            <a:r>
              <a:rPr lang="ru-RU" sz="2400" dirty="0"/>
              <a:t>, то можно заметить, что </a:t>
            </a:r>
            <a:r>
              <a:rPr lang="ru-RU" sz="2400" i="1" dirty="0"/>
              <a:t>X + Y </a:t>
            </a:r>
            <a:r>
              <a:rPr lang="ru-RU" sz="2400" dirty="0"/>
              <a:t>= 10, </a:t>
            </a:r>
            <a:r>
              <a:rPr lang="ru-RU" sz="2400" i="1" dirty="0"/>
              <a:t>L </a:t>
            </a:r>
            <a:r>
              <a:rPr lang="ru-RU" sz="2400" dirty="0"/>
              <a:t>≤ </a:t>
            </a:r>
            <a:r>
              <a:rPr lang="ru-RU" sz="2400" i="1" dirty="0"/>
              <a:t>X</a:t>
            </a:r>
            <a:r>
              <a:rPr lang="ru-RU" sz="2400" dirty="0"/>
              <a:t>. </a:t>
            </a:r>
            <a:r>
              <a:rPr lang="ru-RU" sz="2400" dirty="0" smtClean="0"/>
              <a:t>Все эти величины </a:t>
            </a:r>
            <a:r>
              <a:rPr lang="ru-RU" sz="2400" dirty="0"/>
              <a:t>лежат в промежутке от 0 до 10.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74528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752664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 smtClean="0"/>
              <a:t>Индикатор</a:t>
            </a:r>
            <a:r>
              <a:rPr lang="ru-RU" i="1" dirty="0" smtClean="0"/>
              <a:t> </a:t>
            </a:r>
            <a:r>
              <a:rPr lang="ru-RU" dirty="0"/>
              <a:t>случайного события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Случайная величина </a:t>
            </a:r>
            <a:r>
              <a:rPr lang="ru-RU" sz="2400" i="1" dirty="0"/>
              <a:t>I </a:t>
            </a:r>
            <a:r>
              <a:rPr lang="ru-RU" sz="2400" dirty="0"/>
              <a:t>называется </a:t>
            </a:r>
            <a:r>
              <a:rPr lang="ru-RU" sz="2400" i="1" dirty="0"/>
              <a:t>индикатором </a:t>
            </a:r>
            <a:r>
              <a:rPr lang="ru-RU" sz="2400" dirty="0"/>
              <a:t>случайного события </a:t>
            </a:r>
            <a:r>
              <a:rPr lang="ru-RU" sz="2400" i="1" dirty="0"/>
              <a:t>A</a:t>
            </a:r>
            <a:r>
              <a:rPr lang="ru-RU" sz="2400" dirty="0"/>
              <a:t>, если </a:t>
            </a:r>
            <a:r>
              <a:rPr lang="ru-RU" sz="2400" dirty="0" smtClean="0"/>
              <a:t>она принимает </a:t>
            </a:r>
            <a:r>
              <a:rPr lang="ru-RU" sz="2400" dirty="0"/>
              <a:t>только два значения 0 и 1 и при </a:t>
            </a:r>
            <a:r>
              <a:rPr lang="ru-RU" sz="2400" dirty="0" smtClean="0"/>
              <a:t>этом </a:t>
            </a:r>
            <a:r>
              <a:rPr lang="ru-RU" sz="2400" i="1" dirty="0" smtClean="0"/>
              <a:t>I </a:t>
            </a:r>
            <a:r>
              <a:rPr lang="ru-RU" sz="2400" dirty="0" smtClean="0"/>
              <a:t>= 1</a:t>
            </a:r>
            <a:r>
              <a:rPr lang="ru-RU" sz="2400" dirty="0"/>
              <a:t>, если событие </a:t>
            </a:r>
            <a:r>
              <a:rPr lang="ru-RU" sz="2400" i="1" dirty="0"/>
              <a:t>А </a:t>
            </a:r>
            <a:r>
              <a:rPr lang="ru-RU" sz="2400" dirty="0" smtClean="0"/>
              <a:t>произошло; </a:t>
            </a:r>
            <a:r>
              <a:rPr lang="ru-RU" sz="2400" i="1" dirty="0"/>
              <a:t>I </a:t>
            </a:r>
            <a:r>
              <a:rPr lang="ru-RU" sz="2400" dirty="0"/>
              <a:t>= </a:t>
            </a:r>
            <a:r>
              <a:rPr lang="ru-RU" sz="2400" dirty="0" smtClean="0"/>
              <a:t>0</a:t>
            </a:r>
            <a:r>
              <a:rPr lang="ru-RU" sz="2400" dirty="0"/>
              <a:t>, если событие </a:t>
            </a:r>
            <a:r>
              <a:rPr lang="ru-RU" sz="2400" i="1" dirty="0"/>
              <a:t>А </a:t>
            </a:r>
            <a:r>
              <a:rPr lang="ru-RU" sz="2400" dirty="0"/>
              <a:t>не произошло.</a:t>
            </a:r>
          </a:p>
          <a:p>
            <a:r>
              <a:rPr lang="ru-RU" sz="2400" dirty="0"/>
              <a:t>По значению индикатора можно узнать, произошло или нет </a:t>
            </a:r>
            <a:r>
              <a:rPr lang="ru-RU" sz="2400" dirty="0" smtClean="0"/>
              <a:t>соответствующее </a:t>
            </a:r>
            <a:r>
              <a:rPr lang="ru-RU" sz="2400" dirty="0"/>
              <a:t>событие — отсюда и его название. Индикатор называют </a:t>
            </a:r>
            <a:r>
              <a:rPr lang="ru-RU" sz="2400" dirty="0" smtClean="0"/>
              <a:t>также </a:t>
            </a:r>
            <a:r>
              <a:rPr lang="ru-RU" sz="2400" i="1" dirty="0" smtClean="0"/>
              <a:t>бинарной </a:t>
            </a:r>
            <a:r>
              <a:rPr lang="ru-RU" sz="2400" i="1" dirty="0"/>
              <a:t>случайной величиной</a:t>
            </a:r>
            <a:r>
              <a:rPr lang="ru-RU" sz="2400" dirty="0"/>
              <a:t>, поскольку она может принимать </a:t>
            </a:r>
            <a:r>
              <a:rPr lang="ru-RU" sz="2400" dirty="0" smtClean="0"/>
              <a:t>всего два </a:t>
            </a:r>
            <a:r>
              <a:rPr lang="ru-RU" sz="2400" dirty="0"/>
              <a:t>значения — 0 и 1.</a:t>
            </a:r>
          </a:p>
          <a:p>
            <a:r>
              <a:rPr lang="ru-RU" sz="2400" dirty="0"/>
              <a:t>В опыте с двумя кубиками можно </a:t>
            </a:r>
            <a:r>
              <a:rPr lang="ru-RU" sz="2400" dirty="0" smtClean="0"/>
              <a:t>принять индикатор </a:t>
            </a:r>
            <a:r>
              <a:rPr lang="ru-RU" sz="2400" i="1" dirty="0" smtClean="0"/>
              <a:t>I </a:t>
            </a:r>
            <a:r>
              <a:rPr lang="ru-RU" sz="2400" dirty="0"/>
              <a:t>= </a:t>
            </a:r>
            <a:r>
              <a:rPr lang="ru-RU" sz="2400" dirty="0" smtClean="0"/>
              <a:t>1</a:t>
            </a:r>
            <a:r>
              <a:rPr lang="ru-RU" sz="2400" dirty="0"/>
              <a:t>, если на кубиках выпали одинаковые числа</a:t>
            </a:r>
            <a:r>
              <a:rPr lang="ru-RU" sz="2400" dirty="0" smtClean="0"/>
              <a:t>; </a:t>
            </a:r>
            <a:r>
              <a:rPr lang="ru-RU" sz="2400" i="1" dirty="0"/>
              <a:t>I </a:t>
            </a:r>
            <a:r>
              <a:rPr lang="ru-RU" sz="2400" dirty="0" smtClean="0"/>
              <a:t>= 0</a:t>
            </a:r>
            <a:r>
              <a:rPr lang="ru-RU" sz="2400" dirty="0"/>
              <a:t>, если на кубиках выпали разные числа.</a:t>
            </a:r>
          </a:p>
          <a:p>
            <a:r>
              <a:rPr lang="ru-RU" sz="2400" dirty="0"/>
              <a:t>Тогда для исхода (5; 5) </a:t>
            </a:r>
            <a:r>
              <a:rPr lang="ru-RU" sz="2400" dirty="0" smtClean="0"/>
              <a:t>значение </a:t>
            </a:r>
            <a:r>
              <a:rPr lang="ru-RU" sz="2400" dirty="0"/>
              <a:t>случайной величины </a:t>
            </a:r>
            <a:endParaRPr lang="ru-RU" sz="2400" dirty="0" smtClean="0"/>
          </a:p>
          <a:p>
            <a:r>
              <a:rPr lang="ru-RU" sz="2400" i="1" dirty="0" smtClean="0"/>
              <a:t>I </a:t>
            </a:r>
            <a:r>
              <a:rPr lang="ru-RU" sz="2400" dirty="0"/>
              <a:t>= </a:t>
            </a:r>
            <a:r>
              <a:rPr lang="ru-RU" sz="2400" dirty="0" smtClean="0"/>
              <a:t>1</a:t>
            </a:r>
            <a:r>
              <a:rPr lang="ru-RU" sz="2400" dirty="0"/>
              <a:t>, а </a:t>
            </a:r>
            <a:r>
              <a:rPr lang="ru-RU" sz="2400" dirty="0" smtClean="0"/>
              <a:t>для исхода </a:t>
            </a:r>
            <a:r>
              <a:rPr lang="ru-RU" sz="2400" dirty="0"/>
              <a:t>(6; 2) </a:t>
            </a:r>
            <a:r>
              <a:rPr lang="ru-RU" sz="2400" i="1" dirty="0"/>
              <a:t>I </a:t>
            </a:r>
            <a:r>
              <a:rPr lang="ru-RU" sz="2400" dirty="0" smtClean="0"/>
              <a:t>= 0.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52890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Случайные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47036"/>
            <a:ext cx="792088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Рассмотрим некоторые </a:t>
            </a:r>
            <a:r>
              <a:rPr lang="ru-RU" sz="2400" dirty="0" smtClean="0"/>
              <a:t>примеры случайных величин.</a:t>
            </a:r>
          </a:p>
          <a:p>
            <a:endParaRPr lang="ru-RU" sz="2400" dirty="0"/>
          </a:p>
          <a:p>
            <a:r>
              <a:rPr lang="ru-RU" sz="2400" b="1" dirty="0"/>
              <a:t>Пример 1. </a:t>
            </a:r>
            <a:r>
              <a:rPr lang="ru-RU" sz="2400" dirty="0"/>
              <a:t>Случайная величина </a:t>
            </a:r>
            <a:r>
              <a:rPr lang="ru-RU" sz="2400" i="1" dirty="0"/>
              <a:t>U </a:t>
            </a:r>
            <a:r>
              <a:rPr lang="ru-RU" sz="2400" dirty="0"/>
              <a:t>— напряжение в бытовой сети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В результате случайного опыта — замера напряжения в сети в </a:t>
            </a:r>
            <a:r>
              <a:rPr lang="ru-RU" sz="2400" dirty="0" smtClean="0"/>
              <a:t>разные моменты </a:t>
            </a:r>
            <a:r>
              <a:rPr lang="ru-RU" sz="2400" dirty="0"/>
              <a:t>времени с помощью вольтметра — можно получить ряд </a:t>
            </a:r>
            <a:r>
              <a:rPr lang="ru-RU" sz="2400" dirty="0" smtClean="0"/>
              <a:t>случайных </a:t>
            </a:r>
            <a:r>
              <a:rPr lang="ru-RU" sz="2400" dirty="0"/>
              <a:t>значений этой величины в вольтах, например:</a:t>
            </a:r>
          </a:p>
          <a:p>
            <a:r>
              <a:rPr lang="ru-RU" sz="2400" dirty="0"/>
              <a:t>218, 218, 220, 216, 221, 225, 222, 219, 223, 227, 218, 223.</a:t>
            </a:r>
          </a:p>
          <a:p>
            <a:r>
              <a:rPr lang="ru-RU" sz="2400" dirty="0" smtClean="0"/>
              <a:t>В </a:t>
            </a:r>
            <a:r>
              <a:rPr lang="ru-RU" sz="2400" dirty="0"/>
              <a:t>отличие от величин из примеров с кубиком или монетой здесь </a:t>
            </a:r>
            <a:r>
              <a:rPr lang="ru-RU" sz="2400" dirty="0" smtClean="0"/>
              <a:t>нельзя </a:t>
            </a:r>
            <a:r>
              <a:rPr lang="ru-RU" sz="2400" dirty="0"/>
              <a:t>заранее указать точный набор значений, которые может </a:t>
            </a:r>
            <a:r>
              <a:rPr lang="ru-RU" sz="2400" dirty="0" smtClean="0"/>
              <a:t>принимать данная </a:t>
            </a:r>
            <a:r>
              <a:rPr lang="ru-RU" sz="2400" dirty="0"/>
              <a:t>величина. Но можно ограничить их каким-то диапазоном, за </a:t>
            </a:r>
            <a:r>
              <a:rPr lang="ru-RU" sz="2400" dirty="0" smtClean="0"/>
              <a:t>который </a:t>
            </a:r>
            <a:r>
              <a:rPr lang="ru-RU" sz="2400" dirty="0"/>
              <a:t>эти значения заведомо не выйдут — например, от 0 до 380 В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79417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Случайные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47036"/>
            <a:ext cx="792088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 статистике мы изучали различные методы, которые позволяют </a:t>
            </a:r>
            <a:r>
              <a:rPr lang="ru-RU" sz="2400" dirty="0" smtClean="0"/>
              <a:t>нам </a:t>
            </a:r>
            <a:r>
              <a:rPr lang="ru-RU" sz="2400" i="1" dirty="0" smtClean="0"/>
              <a:t>по </a:t>
            </a:r>
            <a:r>
              <a:rPr lang="ru-RU" sz="2400" i="1" dirty="0"/>
              <a:t>наблюдениям случайной величины </a:t>
            </a:r>
            <a:r>
              <a:rPr lang="ru-RU" sz="2400" dirty="0"/>
              <a:t>делать </a:t>
            </a:r>
            <a:r>
              <a:rPr lang="ru-RU" sz="2400" dirty="0" smtClean="0"/>
              <a:t>выводы </a:t>
            </a:r>
            <a:r>
              <a:rPr lang="ru-RU" sz="2400" dirty="0"/>
              <a:t>о её </a:t>
            </a:r>
            <a:r>
              <a:rPr lang="ru-RU" sz="2400" dirty="0" smtClean="0"/>
              <a:t>поведении </a:t>
            </a:r>
            <a:r>
              <a:rPr lang="ru-RU" sz="2400" dirty="0"/>
              <a:t>в будущем. </a:t>
            </a:r>
            <a:endParaRPr lang="ru-RU" sz="2400" dirty="0" smtClean="0"/>
          </a:p>
          <a:p>
            <a:r>
              <a:rPr lang="ru-RU" sz="2400" dirty="0" smtClean="0"/>
              <a:t>Например</a:t>
            </a:r>
            <a:r>
              <a:rPr lang="ru-RU" sz="2400" dirty="0"/>
              <a:t>, можно составить таблицу частот и выяснить</a:t>
            </a:r>
            <a:r>
              <a:rPr lang="ru-RU" sz="2400" dirty="0" smtClean="0"/>
              <a:t>, какие </a:t>
            </a:r>
            <a:r>
              <a:rPr lang="ru-RU" sz="2400" dirty="0"/>
              <a:t>значения в этих наблюдениях встречались чаще, а какие реже. </a:t>
            </a:r>
            <a:r>
              <a:rPr lang="ru-RU" sz="2400" dirty="0" smtClean="0"/>
              <a:t>Примерно </a:t>
            </a:r>
            <a:r>
              <a:rPr lang="ru-RU" sz="2400" dirty="0"/>
              <a:t>такую частоту этих значений следует ожидать и в дальнейшем.</a:t>
            </a:r>
          </a:p>
          <a:p>
            <a:endParaRPr lang="ru-RU" sz="2400" dirty="0" smtClean="0"/>
          </a:p>
          <a:p>
            <a:r>
              <a:rPr lang="ru-RU" sz="2400" dirty="0" smtClean="0"/>
              <a:t>Много </a:t>
            </a:r>
            <a:r>
              <a:rPr lang="ru-RU" sz="2400" dirty="0"/>
              <a:t>полезной информации о случайной величине содержат </a:t>
            </a:r>
            <a:r>
              <a:rPr lang="ru-RU" sz="2400" dirty="0" smtClean="0"/>
              <a:t>числовые </a:t>
            </a:r>
            <a:r>
              <a:rPr lang="ru-RU" sz="2400" dirty="0"/>
              <a:t>показатели, которые можно найти по наблюдениям: </a:t>
            </a:r>
            <a:r>
              <a:rPr lang="ru-RU" sz="2400" dirty="0" smtClean="0"/>
              <a:t>среднее арифметическое</a:t>
            </a:r>
            <a:r>
              <a:rPr lang="ru-RU" sz="2400" dirty="0"/>
              <a:t>, медиана, дисперсия и другие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93568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Случайные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47036"/>
            <a:ext cx="79208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В </a:t>
            </a:r>
            <a:r>
              <a:rPr lang="ru-RU" sz="2400" dirty="0"/>
              <a:t>теории вероятностей мы научились вычислять вероятность </a:t>
            </a:r>
            <a:r>
              <a:rPr lang="ru-RU" sz="2400" dirty="0" smtClean="0"/>
              <a:t>многих случайных </a:t>
            </a:r>
            <a:r>
              <a:rPr lang="ru-RU" sz="2400" dirty="0"/>
              <a:t>событий без каких-либо статистических данных, основываясь</a:t>
            </a:r>
            <a:r>
              <a:rPr lang="ru-RU" sz="2400" dirty="0" smtClean="0"/>
              <a:t>,</a:t>
            </a:r>
            <a:r>
              <a:rPr lang="ru-RU" sz="2400" dirty="0"/>
              <a:t> например, на основе предположений о </a:t>
            </a:r>
            <a:r>
              <a:rPr lang="ru-RU" sz="2400" dirty="0" err="1"/>
              <a:t>равновозможности</a:t>
            </a:r>
            <a:r>
              <a:rPr lang="ru-RU" sz="2400" dirty="0"/>
              <a:t> исходов, </a:t>
            </a:r>
            <a:r>
              <a:rPr lang="ru-RU" sz="2400" dirty="0" smtClean="0"/>
              <a:t>независимости </a:t>
            </a:r>
            <a:r>
              <a:rPr lang="ru-RU" sz="2400" dirty="0"/>
              <a:t>событий и т. д. Такой же подход можно использовать и </a:t>
            </a:r>
            <a:r>
              <a:rPr lang="ru-RU" sz="2400" dirty="0" smtClean="0"/>
              <a:t>для случайных </a:t>
            </a:r>
            <a:r>
              <a:rPr lang="ru-RU" sz="2400" dirty="0"/>
              <a:t>величин.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389652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Дискретные случайные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47036"/>
            <a:ext cx="792088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 зависимости от того, как устроено это множество возможных </a:t>
            </a:r>
            <a:r>
              <a:rPr lang="ru-RU" sz="2400" dirty="0" smtClean="0"/>
              <a:t>значений</a:t>
            </a:r>
            <a:r>
              <a:rPr lang="ru-RU" sz="2400" dirty="0"/>
              <a:t>, случайные величины делятся на несколько типов. Самые важные </a:t>
            </a:r>
            <a:r>
              <a:rPr lang="ru-RU" sz="2400" dirty="0" smtClean="0"/>
              <a:t>из них </a:t>
            </a:r>
            <a:r>
              <a:rPr lang="ru-RU" sz="2400" dirty="0"/>
              <a:t>— дискретные и непрерывные случайные величины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Слово «дискретный» происходит от латинского </a:t>
            </a:r>
            <a:r>
              <a:rPr lang="en-US" sz="2400" dirty="0" smtClean="0"/>
              <a:t>“</a:t>
            </a:r>
            <a:r>
              <a:rPr lang="ru-RU" sz="2400" dirty="0" err="1" smtClean="0"/>
              <a:t>discretus</a:t>
            </a:r>
            <a:r>
              <a:rPr lang="en-US" sz="2400" dirty="0" smtClean="0"/>
              <a:t>”</a:t>
            </a:r>
            <a:r>
              <a:rPr lang="ru-RU" sz="2400" dirty="0" smtClean="0"/>
              <a:t> </a:t>
            </a:r>
            <a:r>
              <a:rPr lang="ru-RU" sz="2400" dirty="0"/>
              <a:t>— «</a:t>
            </a:r>
            <a:r>
              <a:rPr lang="ru-RU" sz="2400" dirty="0" smtClean="0"/>
              <a:t>разделённый</a:t>
            </a:r>
            <a:r>
              <a:rPr lang="ru-RU" sz="2400" dirty="0"/>
              <a:t>», «прерывистый</a:t>
            </a:r>
            <a:r>
              <a:rPr lang="ru-RU" sz="2400" dirty="0" smtClean="0"/>
              <a:t>».</a:t>
            </a:r>
          </a:p>
          <a:p>
            <a:endParaRPr lang="ru-RU" sz="2400" dirty="0" smtClean="0"/>
          </a:p>
          <a:p>
            <a:r>
              <a:rPr lang="ru-RU" sz="2400" dirty="0" smtClean="0"/>
              <a:t>Случайная величина называется </a:t>
            </a:r>
            <a:r>
              <a:rPr lang="ru-RU" sz="2400" i="1" dirty="0" smtClean="0"/>
              <a:t>дискретной</a:t>
            </a:r>
            <a:r>
              <a:rPr lang="ru-RU" sz="2400" dirty="0" smtClean="0"/>
              <a:t>, если множество её возможных значений состоит </a:t>
            </a:r>
            <a:r>
              <a:rPr lang="ru-RU" sz="2400" dirty="0"/>
              <a:t>из отдельно отстоящих друг от друга чисел, не сливающихся в интервалы </a:t>
            </a:r>
            <a:r>
              <a:rPr lang="ru-RU" sz="2400" dirty="0" smtClean="0"/>
              <a:t>или отрезки.</a:t>
            </a:r>
          </a:p>
          <a:p>
            <a:endParaRPr lang="ru-RU" sz="2400" dirty="0"/>
          </a:p>
          <a:p>
            <a:r>
              <a:rPr lang="ru-RU" sz="2400" dirty="0"/>
              <a:t>Чаще всего этим множеством будет какое-то конечное </a:t>
            </a:r>
            <a:r>
              <a:rPr lang="ru-RU" sz="2400" dirty="0" smtClean="0"/>
              <a:t>подмножество целых </a:t>
            </a:r>
            <a:r>
              <a:rPr lang="ru-RU" sz="2400" dirty="0"/>
              <a:t>чисел, например {1, 2, 3, 4, 5, 6</a:t>
            </a:r>
            <a:r>
              <a:rPr lang="ru-RU" sz="2400" dirty="0" smtClean="0"/>
              <a:t>}.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704856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828092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Непрерывные случайные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47036"/>
            <a:ext cx="792088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Случайная величина называется </a:t>
            </a:r>
            <a:r>
              <a:rPr lang="ru-RU" sz="2400" i="1" dirty="0"/>
              <a:t>дискретной</a:t>
            </a:r>
            <a:r>
              <a:rPr lang="ru-RU" sz="2400" dirty="0"/>
              <a:t>, если </a:t>
            </a:r>
            <a:r>
              <a:rPr lang="ru-RU" sz="2400" dirty="0" smtClean="0"/>
              <a:t>множеством </a:t>
            </a:r>
            <a:r>
              <a:rPr lang="ru-RU" sz="2400" dirty="0"/>
              <a:t>её возможных значений </a:t>
            </a:r>
            <a:r>
              <a:rPr lang="ru-RU" sz="2400" dirty="0" smtClean="0"/>
              <a:t>является </a:t>
            </a:r>
            <a:r>
              <a:rPr lang="ru-RU" sz="2400" dirty="0"/>
              <a:t>непрерывный промежуток (или несколько промежутков) </a:t>
            </a:r>
            <a:r>
              <a:rPr lang="ru-RU" sz="2400" dirty="0" smtClean="0"/>
              <a:t>числовой прямой</a:t>
            </a:r>
            <a:r>
              <a:rPr lang="ru-RU" sz="2400" dirty="0"/>
              <a:t>.</a:t>
            </a:r>
          </a:p>
          <a:p>
            <a:r>
              <a:rPr lang="ru-RU" sz="2400" dirty="0"/>
              <a:t>Иногда этим множеством будет вся числовая прямая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Посмотрим, какие из рассмотренных ранее величин являются </a:t>
            </a:r>
            <a:r>
              <a:rPr lang="ru-RU" sz="2400" dirty="0" smtClean="0"/>
              <a:t>дискретными</a:t>
            </a:r>
            <a:r>
              <a:rPr lang="ru-RU" sz="2400" dirty="0"/>
              <a:t>, а какие — непрерывными</a:t>
            </a:r>
            <a:r>
              <a:rPr lang="ru-RU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3863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8280920" cy="714380"/>
          </a:xfrm>
        </p:spPr>
        <p:txBody>
          <a:bodyPr>
            <a:normAutofit/>
          </a:bodyPr>
          <a:lstStyle/>
          <a:p>
            <a:pPr algn="l"/>
            <a:r>
              <a:rPr lang="ru-RU" sz="2800" dirty="0" smtClean="0"/>
              <a:t>Пример 1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68577"/>
            <a:ext cx="792088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Вспомним пример с подбрасыванием двух </a:t>
            </a:r>
            <a:r>
              <a:rPr lang="ru-RU" sz="2400" dirty="0"/>
              <a:t>игральных </a:t>
            </a:r>
            <a:r>
              <a:rPr lang="ru-RU" sz="2400" dirty="0" smtClean="0"/>
              <a:t>кубиков. В опыте были шесть </a:t>
            </a:r>
            <a:r>
              <a:rPr lang="ru-RU" sz="2400" dirty="0"/>
              <a:t>разных </a:t>
            </a:r>
            <a:r>
              <a:rPr lang="ru-RU" sz="2400" dirty="0" smtClean="0"/>
              <a:t>случайных величин:</a:t>
            </a:r>
          </a:p>
          <a:p>
            <a:r>
              <a:rPr lang="ru-RU" sz="2400" i="1" dirty="0" smtClean="0"/>
              <a:t>X </a:t>
            </a:r>
            <a:r>
              <a:rPr lang="ru-RU" sz="2400" dirty="0"/>
              <a:t>— число, выпавшее на первом кубике;</a:t>
            </a:r>
          </a:p>
          <a:p>
            <a:r>
              <a:rPr lang="ru-RU" sz="2400" i="1" dirty="0"/>
              <a:t>Y </a:t>
            </a:r>
            <a:r>
              <a:rPr lang="ru-RU" sz="2400" dirty="0"/>
              <a:t>— число, выпавшее на втором кубике;</a:t>
            </a:r>
          </a:p>
          <a:p>
            <a:r>
              <a:rPr lang="en-US" sz="2400" i="1" dirty="0"/>
              <a:t>S </a:t>
            </a:r>
            <a:r>
              <a:rPr lang="en-US" sz="2400" dirty="0"/>
              <a:t>— </a:t>
            </a:r>
            <a:r>
              <a:rPr lang="ru-RU" sz="2400" dirty="0"/>
              <a:t>сумма </a:t>
            </a:r>
            <a:r>
              <a:rPr lang="ru-RU" sz="2400" dirty="0" smtClean="0"/>
              <a:t>чисел; </a:t>
            </a:r>
            <a:r>
              <a:rPr lang="en-US" sz="2400" i="1" dirty="0" smtClean="0"/>
              <a:t>R </a:t>
            </a:r>
            <a:r>
              <a:rPr lang="en-US" sz="2400" dirty="0"/>
              <a:t>— </a:t>
            </a:r>
            <a:r>
              <a:rPr lang="ru-RU" sz="2400" dirty="0"/>
              <a:t>произведение чисел;</a:t>
            </a:r>
          </a:p>
          <a:p>
            <a:r>
              <a:rPr lang="en-US" sz="2400" i="1" dirty="0"/>
              <a:t>W </a:t>
            </a:r>
            <a:r>
              <a:rPr lang="en-US" sz="2400" dirty="0"/>
              <a:t>— </a:t>
            </a:r>
            <a:r>
              <a:rPr lang="ru-RU" sz="2400" dirty="0"/>
              <a:t>наибольшее из </a:t>
            </a:r>
            <a:r>
              <a:rPr lang="ru-RU" sz="2400" dirty="0" smtClean="0"/>
              <a:t>чисел; </a:t>
            </a:r>
            <a:r>
              <a:rPr lang="en-US" sz="2400" i="1" dirty="0" smtClean="0"/>
              <a:t>V </a:t>
            </a:r>
            <a:r>
              <a:rPr lang="en-US" sz="2400" dirty="0"/>
              <a:t>— </a:t>
            </a:r>
            <a:r>
              <a:rPr lang="ru-RU" sz="2400" dirty="0"/>
              <a:t>наименьшее из чисел</a:t>
            </a:r>
            <a:r>
              <a:rPr lang="ru-RU" sz="2400" dirty="0" smtClean="0"/>
              <a:t>.</a:t>
            </a:r>
          </a:p>
          <a:p>
            <a:r>
              <a:rPr lang="ru-RU" sz="2400" dirty="0"/>
              <a:t>Найдём для каждой из них множество возможных значений. </a:t>
            </a:r>
            <a:r>
              <a:rPr lang="ru-RU" sz="2400" dirty="0" smtClean="0"/>
              <a:t>Величины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 </a:t>
            </a:r>
            <a:r>
              <a:rPr lang="ru-RU" sz="2400" dirty="0"/>
              <a:t>могут принимать значения 1, 2, 3, 4, 5, 6. Сумма </a:t>
            </a:r>
            <a:r>
              <a:rPr lang="ru-RU" sz="2400" dirty="0" smtClean="0"/>
              <a:t>чисел </a:t>
            </a:r>
            <a:r>
              <a:rPr lang="ru-RU" sz="2400" i="1" dirty="0"/>
              <a:t>S </a:t>
            </a:r>
            <a:r>
              <a:rPr lang="ru-RU" sz="2400" dirty="0"/>
              <a:t>может равняться любому целому числу от 2 до 12. Произведение </a:t>
            </a:r>
            <a:r>
              <a:rPr lang="ru-RU" sz="2400" i="1" dirty="0" smtClean="0"/>
              <a:t>R </a:t>
            </a:r>
            <a:r>
              <a:rPr lang="ru-RU" sz="2400" dirty="0" smtClean="0"/>
              <a:t>всегда </a:t>
            </a:r>
            <a:r>
              <a:rPr lang="ru-RU" sz="2400" dirty="0"/>
              <a:t>является целым числом и лежит в диапазоне от 1 до 36</a:t>
            </a:r>
            <a:r>
              <a:rPr lang="ru-RU" sz="2400" dirty="0" smtClean="0"/>
              <a:t>. </a:t>
            </a:r>
            <a:r>
              <a:rPr lang="ru-RU" sz="2400" dirty="0"/>
              <a:t>Случайные </a:t>
            </a:r>
            <a:r>
              <a:rPr lang="ru-RU" sz="2400" dirty="0" smtClean="0"/>
              <a:t>величины </a:t>
            </a:r>
            <a:r>
              <a:rPr lang="ru-RU" sz="2400" i="1" dirty="0"/>
              <a:t>W </a:t>
            </a:r>
            <a:r>
              <a:rPr lang="ru-RU" sz="2400" dirty="0"/>
              <a:t>и </a:t>
            </a:r>
            <a:r>
              <a:rPr lang="ru-RU" sz="2400" i="1" dirty="0"/>
              <a:t>V</a:t>
            </a:r>
            <a:r>
              <a:rPr lang="ru-RU" sz="2400" dirty="0"/>
              <a:t>, как и числа на кубиках, могут равняться любому </a:t>
            </a:r>
            <a:r>
              <a:rPr lang="ru-RU" sz="2400" dirty="0" smtClean="0"/>
              <a:t>целому числу </a:t>
            </a:r>
            <a:r>
              <a:rPr lang="ru-RU" sz="2400" dirty="0"/>
              <a:t>от 1 до 6.</a:t>
            </a:r>
          </a:p>
          <a:p>
            <a:r>
              <a:rPr lang="ru-RU" sz="2400" dirty="0" smtClean="0"/>
              <a:t>Итак, </a:t>
            </a:r>
            <a:r>
              <a:rPr lang="ru-RU" sz="2400" dirty="0"/>
              <a:t>все шесть рассмотренных в этом примере величин </a:t>
            </a:r>
            <a:r>
              <a:rPr lang="ru-RU" sz="2400" dirty="0" smtClean="0"/>
              <a:t>относятся </a:t>
            </a:r>
            <a:r>
              <a:rPr lang="ru-RU" sz="2400" dirty="0"/>
              <a:t>к дискретному типу.</a:t>
            </a:r>
          </a:p>
        </p:txBody>
      </p:sp>
    </p:spTree>
    <p:extLst>
      <p:ext uri="{BB962C8B-B14F-4D97-AF65-F5344CB8AC3E}">
        <p14:creationId xmlns:p14="http://schemas.microsoft.com/office/powerpoint/2010/main" val="3362264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87479" y="151105"/>
            <a:ext cx="8280920" cy="541591"/>
          </a:xfrm>
        </p:spPr>
        <p:txBody>
          <a:bodyPr>
            <a:normAutofit/>
          </a:bodyPr>
          <a:lstStyle/>
          <a:p>
            <a:pPr algn="l"/>
            <a:r>
              <a:rPr lang="ru-RU" sz="2800" dirty="0" smtClean="0"/>
              <a:t>Пример 2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87479" y="826432"/>
            <a:ext cx="8604448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Внутри </a:t>
            </a:r>
            <a:r>
              <a:rPr lang="ru-RU" sz="2400" dirty="0"/>
              <a:t>круга радиуса 10 случайным образом выбирают точку </a:t>
            </a:r>
            <a:r>
              <a:rPr lang="ru-RU" sz="2400" i="1" dirty="0"/>
              <a:t>M</a:t>
            </a:r>
            <a:r>
              <a:rPr lang="ru-RU" sz="2400" dirty="0"/>
              <a:t>. </a:t>
            </a:r>
            <a:r>
              <a:rPr lang="ru-RU" sz="2400" dirty="0" smtClean="0"/>
              <a:t>Случайная </a:t>
            </a:r>
            <a:r>
              <a:rPr lang="ru-RU" sz="2400" dirty="0"/>
              <a:t>величина </a:t>
            </a:r>
            <a:r>
              <a:rPr lang="ru-RU" sz="2400" i="1" dirty="0"/>
              <a:t>R </a:t>
            </a:r>
            <a:r>
              <a:rPr lang="ru-RU" sz="2400" dirty="0"/>
              <a:t>— расстояние от точки </a:t>
            </a:r>
            <a:r>
              <a:rPr lang="ru-RU" sz="2400" i="1" dirty="0"/>
              <a:t>M </a:t>
            </a:r>
            <a:r>
              <a:rPr lang="ru-RU" sz="2400" dirty="0"/>
              <a:t>до центра круга </a:t>
            </a:r>
            <a:r>
              <a:rPr lang="ru-RU" sz="2400" i="1" dirty="0"/>
              <a:t>O</a:t>
            </a:r>
            <a:r>
              <a:rPr lang="ru-RU" sz="2400" dirty="0" smtClean="0"/>
              <a:t>.</a:t>
            </a:r>
            <a:r>
              <a:rPr lang="en-US" sz="2400" dirty="0" smtClean="0"/>
              <a:t> </a:t>
            </a:r>
          </a:p>
          <a:p>
            <a:r>
              <a:rPr lang="ru-RU" sz="2400" dirty="0" smtClean="0"/>
              <a:t>Очевидно</a:t>
            </a:r>
            <a:r>
              <a:rPr lang="ru-RU" sz="2400" dirty="0"/>
              <a:t>, что эта величина непрерывная. Её возможные значения </a:t>
            </a:r>
            <a:r>
              <a:rPr lang="ru-RU" sz="2400" dirty="0" smtClean="0"/>
              <a:t>заполняют </a:t>
            </a:r>
            <a:r>
              <a:rPr lang="ru-RU" sz="2400" dirty="0"/>
              <a:t>весь промежуток [0; 10</a:t>
            </a:r>
            <a:r>
              <a:rPr lang="ru-RU" sz="2400" dirty="0" smtClean="0"/>
              <a:t>].</a:t>
            </a:r>
            <a:r>
              <a:rPr lang="en-US" sz="2400" dirty="0" smtClean="0"/>
              <a:t> </a:t>
            </a:r>
            <a:r>
              <a:rPr lang="ru-RU" sz="2400" dirty="0" smtClean="0"/>
              <a:t>Каждое конкретное </a:t>
            </a:r>
            <a:r>
              <a:rPr lang="ru-RU" sz="2400" dirty="0"/>
              <a:t>значение из этого промежутка величина </a:t>
            </a:r>
            <a:r>
              <a:rPr lang="ru-RU" sz="2400" i="1" dirty="0"/>
              <a:t>R </a:t>
            </a:r>
            <a:r>
              <a:rPr lang="ru-RU" sz="2400" dirty="0"/>
              <a:t>принимает с </a:t>
            </a:r>
            <a:r>
              <a:rPr lang="ru-RU" sz="2400" dirty="0" smtClean="0"/>
              <a:t>вероятностью 0. Действительно, </a:t>
            </a:r>
            <a:r>
              <a:rPr lang="ru-RU" sz="2400" dirty="0"/>
              <a:t>если взять произвольное число </a:t>
            </a:r>
            <a:r>
              <a:rPr lang="ru-RU" sz="2400" i="1" dirty="0" smtClean="0"/>
              <a:t>x</a:t>
            </a:r>
            <a:r>
              <a:rPr lang="en-US" sz="2400" i="1" dirty="0" smtClean="0">
                <a:sym typeface="Symbol" panose="05050102010706020507" pitchFamily="18" charset="2"/>
              </a:rPr>
              <a:t></a:t>
            </a:r>
            <a:r>
              <a:rPr lang="ru-RU" sz="2400" i="1" dirty="0" smtClean="0"/>
              <a:t> </a:t>
            </a:r>
            <a:r>
              <a:rPr lang="ru-RU" sz="2400" dirty="0"/>
              <a:t>[0; 10], то </a:t>
            </a:r>
            <a:r>
              <a:rPr lang="ru-RU" sz="2400" dirty="0" smtClean="0"/>
              <a:t>равенство </a:t>
            </a:r>
            <a:r>
              <a:rPr lang="ru-RU" sz="2400" i="1" dirty="0" smtClean="0"/>
              <a:t>R </a:t>
            </a:r>
            <a:r>
              <a:rPr lang="ru-RU" sz="2400" i="1" dirty="0"/>
              <a:t>= x </a:t>
            </a:r>
            <a:r>
              <a:rPr lang="ru-RU" sz="2400" dirty="0"/>
              <a:t>будет выполняться для точек, лежащих на окружности радиуса </a:t>
            </a:r>
            <a:r>
              <a:rPr lang="ru-RU" sz="2400" i="1" dirty="0"/>
              <a:t>x</a:t>
            </a:r>
            <a:r>
              <a:rPr lang="ru-RU" sz="2400" dirty="0" smtClean="0"/>
              <a:t>. Вероятность </a:t>
            </a:r>
            <a:r>
              <a:rPr lang="ru-RU" sz="2400" dirty="0"/>
              <a:t>попадания случайной точки на </a:t>
            </a:r>
            <a:r>
              <a:rPr lang="ru-RU" sz="2400" dirty="0" smtClean="0"/>
              <a:t>эту</a:t>
            </a:r>
            <a:r>
              <a:rPr lang="en-US" sz="2400" dirty="0" smtClean="0"/>
              <a:t> </a:t>
            </a:r>
            <a:r>
              <a:rPr lang="ru-RU" sz="2400" dirty="0" smtClean="0"/>
              <a:t>окружность </a:t>
            </a:r>
            <a:r>
              <a:rPr lang="ru-RU" sz="2400" dirty="0"/>
              <a:t>равна </a:t>
            </a:r>
            <a:r>
              <a:rPr lang="ru-RU" sz="2400" dirty="0" smtClean="0"/>
              <a:t>0</a:t>
            </a:r>
            <a:r>
              <a:rPr lang="en-US" sz="2400" dirty="0" smtClean="0"/>
              <a:t> </a:t>
            </a:r>
            <a:r>
              <a:rPr lang="ru-RU" sz="2400" dirty="0" smtClean="0"/>
              <a:t>(вспомните </a:t>
            </a:r>
            <a:r>
              <a:rPr lang="ru-RU" sz="2400" i="1" dirty="0"/>
              <a:t>геометрическое определение вероятности</a:t>
            </a:r>
            <a:r>
              <a:rPr lang="ru-RU" sz="2400" dirty="0" smtClean="0"/>
              <a:t>).</a:t>
            </a:r>
            <a:endParaRPr lang="ru-RU" sz="2400" dirty="0"/>
          </a:p>
          <a:p>
            <a:endParaRPr lang="ru-RU" sz="2400" dirty="0" smtClean="0"/>
          </a:p>
          <a:p>
            <a:endParaRPr lang="ru-RU" sz="2400" dirty="0"/>
          </a:p>
          <a:p>
            <a:endParaRPr lang="ru-RU" sz="2400" dirty="0" smtClean="0"/>
          </a:p>
          <a:p>
            <a:r>
              <a:rPr lang="ru-RU" sz="2400" dirty="0"/>
              <a:t>Случайная величина </a:t>
            </a:r>
            <a:r>
              <a:rPr lang="ru-RU" sz="2400" i="1" dirty="0"/>
              <a:t>R </a:t>
            </a:r>
            <a:r>
              <a:rPr lang="ru-RU" sz="2400" dirty="0"/>
              <a:t>— расстояние до центра </a:t>
            </a:r>
            <a:r>
              <a:rPr lang="ru-RU" sz="2400" dirty="0" smtClean="0"/>
              <a:t>круга.</a:t>
            </a:r>
            <a:endParaRPr lang="ru-RU"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001" y="4725144"/>
            <a:ext cx="1672030" cy="159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453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Вопросы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47036"/>
            <a:ext cx="79208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ru-RU" sz="2400" dirty="0" smtClean="0"/>
              <a:t>Чем </a:t>
            </a:r>
            <a:r>
              <a:rPr lang="ru-RU" sz="2400" dirty="0"/>
              <a:t>дискретные величины отличаются от непрерывных</a:t>
            </a:r>
            <a:r>
              <a:rPr lang="ru-RU" sz="2400" dirty="0" smtClean="0"/>
              <a:t>?</a:t>
            </a:r>
          </a:p>
          <a:p>
            <a:endParaRPr lang="ru-RU" sz="2400" dirty="0"/>
          </a:p>
          <a:p>
            <a:r>
              <a:rPr lang="ru-RU" sz="2400" dirty="0"/>
              <a:t>2. Приведите пример дискретной случайной величины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3. Приведите пример непрерывной случайной величины.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023710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Упражнения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51519" y="1047036"/>
            <a:ext cx="873205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1. Проводятся </a:t>
            </a:r>
            <a:r>
              <a:rPr lang="ru-RU" sz="2400" i="1" dirty="0"/>
              <a:t>N </a:t>
            </a:r>
            <a:r>
              <a:rPr lang="ru-RU" sz="2400" dirty="0"/>
              <a:t>испытаний Бернулли. Случайная величина </a:t>
            </a:r>
            <a:r>
              <a:rPr lang="ru-RU" sz="2400" i="1" dirty="0"/>
              <a:t>X </a:t>
            </a:r>
            <a:r>
              <a:rPr lang="ru-RU" sz="2400" dirty="0"/>
              <a:t>равна числу успехов; </a:t>
            </a:r>
            <a:r>
              <a:rPr lang="ru-RU" sz="2400" dirty="0" smtClean="0"/>
              <a:t>случайная величина </a:t>
            </a:r>
            <a:r>
              <a:rPr lang="ru-RU" sz="2400" i="1" dirty="0"/>
              <a:t>Y </a:t>
            </a:r>
            <a:r>
              <a:rPr lang="ru-RU" sz="2400" dirty="0"/>
              <a:t>— числу неудач. Какие значения они могут принимать? Как одна из них </a:t>
            </a:r>
            <a:r>
              <a:rPr lang="ru-RU" sz="2400" dirty="0" smtClean="0"/>
              <a:t>выражается </a:t>
            </a:r>
            <a:r>
              <a:rPr lang="ru-RU" sz="2400" dirty="0"/>
              <a:t>через другую</a:t>
            </a:r>
            <a:r>
              <a:rPr lang="ru-RU" sz="2400" dirty="0" smtClean="0"/>
              <a:t>?</a:t>
            </a:r>
          </a:p>
          <a:p>
            <a:endParaRPr lang="ru-RU" sz="2400" dirty="0"/>
          </a:p>
          <a:p>
            <a:r>
              <a:rPr lang="ru-RU" sz="2400" dirty="0" smtClean="0"/>
              <a:t>2. </a:t>
            </a:r>
            <a:r>
              <a:rPr lang="ru-RU" sz="2400" dirty="0"/>
              <a:t>Проводятся испытания Бернулли до первого успеха. Случайная величина </a:t>
            </a:r>
            <a:r>
              <a:rPr lang="ru-RU" sz="2400" i="1" dirty="0"/>
              <a:t>I </a:t>
            </a:r>
            <a:r>
              <a:rPr lang="ru-RU" sz="2400" dirty="0"/>
              <a:t>равна 1, </a:t>
            </a:r>
            <a:r>
              <a:rPr lang="ru-RU" sz="2400" dirty="0" smtClean="0"/>
              <a:t>если первый </a:t>
            </a:r>
            <a:r>
              <a:rPr lang="ru-RU" sz="2400" dirty="0"/>
              <a:t>успех наступит на чётном испытании, 0 — если на нечётном. Какое из этих </a:t>
            </a:r>
            <a:r>
              <a:rPr lang="ru-RU" sz="2400" dirty="0" smtClean="0"/>
              <a:t>двух значений </a:t>
            </a:r>
            <a:r>
              <a:rPr lang="ru-RU" sz="2400" dirty="0"/>
              <a:t>более вероятно</a:t>
            </a:r>
            <a:r>
              <a:rPr lang="ru-RU" sz="2400" dirty="0" smtClean="0"/>
              <a:t>?</a:t>
            </a:r>
          </a:p>
          <a:p>
            <a:endParaRPr lang="ru-RU" sz="2400" dirty="0"/>
          </a:p>
          <a:p>
            <a:r>
              <a:rPr lang="ru-RU" sz="2400" dirty="0" smtClean="0"/>
              <a:t>3. </a:t>
            </a:r>
            <a:r>
              <a:rPr lang="ru-RU" sz="2400" dirty="0"/>
              <a:t>В волейболе матч продолжается, пока одна из команд не одержит победы в трёх </a:t>
            </a:r>
            <a:r>
              <a:rPr lang="ru-RU" sz="2400" dirty="0" smtClean="0"/>
              <a:t>партиях. Случайная </a:t>
            </a:r>
            <a:r>
              <a:rPr lang="ru-RU" sz="2400" dirty="0"/>
              <a:t>величина </a:t>
            </a:r>
            <a:r>
              <a:rPr lang="ru-RU" sz="2400" i="1" dirty="0" smtClean="0"/>
              <a:t>X </a:t>
            </a:r>
            <a:r>
              <a:rPr lang="ru-RU" sz="2400" dirty="0" smtClean="0"/>
              <a:t>равняется </a:t>
            </a:r>
            <a:r>
              <a:rPr lang="ru-RU" sz="2400" dirty="0"/>
              <a:t>количеству партий в волейбольном матче. Какие </a:t>
            </a:r>
            <a:r>
              <a:rPr lang="ru-RU" sz="2400" dirty="0" smtClean="0"/>
              <a:t>значения она </a:t>
            </a:r>
            <a:r>
              <a:rPr lang="ru-RU" sz="2400" dirty="0"/>
              <a:t>может принимать? Ничьих в волейбольных партиях не бывает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085973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Упражнения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8205" y="1268760"/>
            <a:ext cx="896579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4. </a:t>
            </a:r>
            <a:r>
              <a:rPr lang="ru-RU" sz="2400" dirty="0"/>
              <a:t>Два шахматиста играют финальный матч на звание чемпиона мира до победы в шести </a:t>
            </a:r>
            <a:r>
              <a:rPr lang="ru-RU" sz="2400" dirty="0" smtClean="0"/>
              <a:t>партиях</a:t>
            </a:r>
            <a:r>
              <a:rPr lang="ru-RU" sz="2400" dirty="0"/>
              <a:t>. Случайная величина </a:t>
            </a:r>
            <a:r>
              <a:rPr lang="ru-RU" sz="2400" i="1" dirty="0"/>
              <a:t>X </a:t>
            </a:r>
            <a:r>
              <a:rPr lang="ru-RU" sz="2400" dirty="0"/>
              <a:t>равняется количеству партий в финальном матче. Какие </a:t>
            </a:r>
            <a:r>
              <a:rPr lang="ru-RU" sz="2400" dirty="0" smtClean="0"/>
              <a:t>значения </a:t>
            </a:r>
            <a:r>
              <a:rPr lang="ru-RU" sz="2400" dirty="0"/>
              <a:t>она может принимать? Ничья в шахматной партии вполне возможна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 smtClean="0"/>
              <a:t>5. </a:t>
            </a:r>
            <a:r>
              <a:rPr lang="ru-RU" sz="2400" dirty="0"/>
              <a:t>Бросают четыре кубика. Случайная величина </a:t>
            </a:r>
            <a:r>
              <a:rPr lang="ru-RU" sz="2400" i="1" dirty="0"/>
              <a:t>K </a:t>
            </a:r>
            <a:r>
              <a:rPr lang="ru-RU" sz="2400" dirty="0"/>
              <a:t>равна количеству различных чисел, </a:t>
            </a:r>
            <a:r>
              <a:rPr lang="ru-RU" sz="2400" dirty="0" smtClean="0"/>
              <a:t>которые при </a:t>
            </a:r>
            <a:r>
              <a:rPr lang="ru-RU" sz="2400" dirty="0"/>
              <a:t>этом выпали. Какие значения она может принимать? Найдите вероятность каждого </a:t>
            </a:r>
            <a:r>
              <a:rPr lang="ru-RU" sz="2400" dirty="0" smtClean="0"/>
              <a:t>из этих </a:t>
            </a:r>
            <a:r>
              <a:rPr lang="ru-RU" sz="2400" dirty="0"/>
              <a:t>значений.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973768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Распределение вероятностей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1047036"/>
            <a:ext cx="896448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Закон распределения </a:t>
            </a:r>
            <a:r>
              <a:rPr lang="ru-RU" sz="2400" dirty="0" smtClean="0"/>
              <a:t>вероятностей</a:t>
            </a:r>
          </a:p>
          <a:p>
            <a:endParaRPr lang="ru-RU" sz="2400" dirty="0"/>
          </a:p>
          <a:p>
            <a:r>
              <a:rPr lang="ru-RU" sz="2400" i="1" dirty="0"/>
              <a:t>Распределением вероятностей </a:t>
            </a:r>
            <a:r>
              <a:rPr lang="ru-RU" sz="2400" dirty="0"/>
              <a:t>случайной величины называется закон, </a:t>
            </a:r>
            <a:r>
              <a:rPr lang="ru-RU" sz="2400" dirty="0" smtClean="0"/>
              <a:t>который описывает </a:t>
            </a:r>
            <a:r>
              <a:rPr lang="ru-RU" sz="2400" dirty="0"/>
              <a:t>все возможные значения случайной величины, а также вероятности, </a:t>
            </a:r>
            <a:r>
              <a:rPr lang="ru-RU" sz="2400" dirty="0" smtClean="0"/>
              <a:t>с которыми </a:t>
            </a:r>
            <a:r>
              <a:rPr lang="ru-RU" sz="2400" dirty="0"/>
              <a:t>она их принимает.</a:t>
            </a:r>
          </a:p>
          <a:p>
            <a:r>
              <a:rPr lang="ru-RU" sz="2400" dirty="0"/>
              <a:t>Название «распределение вероятностей» объясняется тем, что этот </a:t>
            </a:r>
            <a:r>
              <a:rPr lang="ru-RU" sz="2400" dirty="0" smtClean="0"/>
              <a:t>закон </a:t>
            </a:r>
            <a:r>
              <a:rPr lang="ru-RU" sz="2400" dirty="0"/>
              <a:t>показывает, как вся вероятность, равная 1, распределена между </a:t>
            </a:r>
            <a:r>
              <a:rPr lang="ru-RU" sz="2400" dirty="0" smtClean="0"/>
              <a:t>отдельными </a:t>
            </a:r>
            <a:r>
              <a:rPr lang="ru-RU" sz="2400" dirty="0"/>
              <a:t>значениями случайной величины.</a:t>
            </a:r>
          </a:p>
          <a:p>
            <a:r>
              <a:rPr lang="ru-RU" sz="2400" dirty="0"/>
              <a:t>Для дискретных величин с небольшим количеством значений </a:t>
            </a:r>
            <a:r>
              <a:rPr lang="ru-RU" sz="2400" dirty="0" smtClean="0"/>
              <a:t>самым удобным </a:t>
            </a:r>
            <a:r>
              <a:rPr lang="ru-RU" sz="2400" dirty="0"/>
              <a:t>способом представления такого закона служит таблица, </a:t>
            </a:r>
            <a:r>
              <a:rPr lang="ru-RU" sz="2400" dirty="0" smtClean="0"/>
              <a:t>состоящая </a:t>
            </a:r>
            <a:r>
              <a:rPr lang="ru-RU" sz="2400" dirty="0"/>
              <a:t>из двух строк: в первой строке указываются по возрастанию все </a:t>
            </a:r>
            <a:r>
              <a:rPr lang="ru-RU" sz="2400" dirty="0" smtClean="0"/>
              <a:t>возможные </a:t>
            </a:r>
            <a:r>
              <a:rPr lang="ru-RU" sz="2400" dirty="0"/>
              <a:t>значения, а во второй — их вероятности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80848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Распределение вероятностей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1047036"/>
            <a:ext cx="896448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Для </a:t>
            </a:r>
            <a:r>
              <a:rPr lang="ru-RU" sz="2400" dirty="0"/>
              <a:t>дискретных величин с небольшим количеством значений </a:t>
            </a:r>
            <a:r>
              <a:rPr lang="ru-RU" sz="2400" dirty="0" smtClean="0"/>
              <a:t>самым удобным </a:t>
            </a:r>
            <a:r>
              <a:rPr lang="ru-RU" sz="2400" dirty="0"/>
              <a:t>способом представления такого закона служит таблица, </a:t>
            </a:r>
            <a:r>
              <a:rPr lang="ru-RU" sz="2400" dirty="0" smtClean="0"/>
              <a:t>состоящая </a:t>
            </a:r>
            <a:r>
              <a:rPr lang="ru-RU" sz="2400" dirty="0"/>
              <a:t>из двух строк: в первой строке указываются по возрастанию все </a:t>
            </a:r>
            <a:r>
              <a:rPr lang="ru-RU" sz="2400" dirty="0" smtClean="0"/>
              <a:t>возможные </a:t>
            </a:r>
            <a:r>
              <a:rPr lang="ru-RU" sz="2400" dirty="0"/>
              <a:t>значения, а во второй — их вероятности.</a:t>
            </a:r>
          </a:p>
          <a:p>
            <a:r>
              <a:rPr lang="ru-RU" sz="2400" dirty="0"/>
              <a:t>Если случайная величина </a:t>
            </a:r>
            <a:r>
              <a:rPr lang="ru-RU" sz="2400" i="1" dirty="0"/>
              <a:t>X </a:t>
            </a:r>
            <a:r>
              <a:rPr lang="ru-RU" sz="2400" dirty="0"/>
              <a:t>принимает значения </a:t>
            </a:r>
            <a:r>
              <a:rPr lang="ru-RU" sz="2400" i="1" dirty="0"/>
              <a:t>x</a:t>
            </a:r>
            <a:r>
              <a:rPr lang="ru-RU" sz="2400" baseline="-25000" dirty="0"/>
              <a:t>1</a:t>
            </a:r>
            <a:r>
              <a:rPr lang="ru-RU" sz="2400" dirty="0"/>
              <a:t>, </a:t>
            </a:r>
            <a:r>
              <a:rPr lang="ru-RU" sz="2400" i="1" dirty="0"/>
              <a:t>x</a:t>
            </a:r>
            <a:r>
              <a:rPr lang="ru-RU" sz="2400" baseline="-25000" dirty="0"/>
              <a:t>2</a:t>
            </a:r>
            <a:r>
              <a:rPr lang="ru-RU" sz="2400" dirty="0"/>
              <a:t>, … , </a:t>
            </a:r>
            <a:r>
              <a:rPr lang="ru-RU" sz="2400" i="1" dirty="0" err="1"/>
              <a:t>x</a:t>
            </a:r>
            <a:r>
              <a:rPr lang="ru-RU" sz="2400" i="1" baseline="-25000" dirty="0" err="1"/>
              <a:t>n</a:t>
            </a:r>
            <a:r>
              <a:rPr lang="ru-RU" sz="2400" i="1" dirty="0"/>
              <a:t> </a:t>
            </a:r>
            <a:r>
              <a:rPr lang="ru-RU" sz="2400" dirty="0"/>
              <a:t>с </a:t>
            </a:r>
            <a:r>
              <a:rPr lang="ru-RU" sz="2400" dirty="0" smtClean="0"/>
              <a:t>вероятностями </a:t>
            </a:r>
            <a:r>
              <a:rPr lang="ru-RU" sz="2400" i="1" dirty="0"/>
              <a:t>p</a:t>
            </a:r>
            <a:r>
              <a:rPr lang="ru-RU" sz="2400" baseline="-25000" dirty="0"/>
              <a:t>1</a:t>
            </a:r>
            <a:r>
              <a:rPr lang="ru-RU" sz="2400" dirty="0"/>
              <a:t>, </a:t>
            </a:r>
            <a:r>
              <a:rPr lang="ru-RU" sz="2400" i="1" dirty="0"/>
              <a:t>p</a:t>
            </a:r>
            <a:r>
              <a:rPr lang="ru-RU" sz="2400" baseline="-25000" dirty="0"/>
              <a:t>2</a:t>
            </a:r>
            <a:r>
              <a:rPr lang="ru-RU" sz="2400" dirty="0"/>
              <a:t>, … , </a:t>
            </a:r>
            <a:r>
              <a:rPr lang="ru-RU" sz="2400" i="1" dirty="0" err="1"/>
              <a:t>p</a:t>
            </a:r>
            <a:r>
              <a:rPr lang="ru-RU" sz="2400" i="1" baseline="-25000" dirty="0" err="1"/>
              <a:t>n</a:t>
            </a:r>
            <a:r>
              <a:rPr lang="ru-RU" sz="2400" dirty="0"/>
              <a:t>, то её закон распределения будет выглядеть </a:t>
            </a:r>
            <a:r>
              <a:rPr lang="ru-RU" sz="2400" dirty="0" smtClean="0"/>
              <a:t>так</a:t>
            </a:r>
            <a:r>
              <a:rPr lang="en-US" sz="2400" dirty="0" smtClean="0"/>
              <a:t>:</a:t>
            </a:r>
            <a:endParaRPr lang="ru-RU" sz="24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970749"/>
              </p:ext>
            </p:extLst>
          </p:nvPr>
        </p:nvGraphicFramePr>
        <p:xfrm>
          <a:off x="395536" y="4351204"/>
          <a:ext cx="7248123" cy="9144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798599">
                  <a:extLst>
                    <a:ext uri="{9D8B030D-6E8A-4147-A177-3AD203B41FA5}">
                      <a16:colId xmlns:a16="http://schemas.microsoft.com/office/drawing/2014/main" val="2254949869"/>
                    </a:ext>
                  </a:extLst>
                </a:gridCol>
                <a:gridCol w="272294">
                  <a:extLst>
                    <a:ext uri="{9D8B030D-6E8A-4147-A177-3AD203B41FA5}">
                      <a16:colId xmlns:a16="http://schemas.microsoft.com/office/drawing/2014/main" val="649495155"/>
                    </a:ext>
                  </a:extLst>
                </a:gridCol>
                <a:gridCol w="1035446">
                  <a:extLst>
                    <a:ext uri="{9D8B030D-6E8A-4147-A177-3AD203B41FA5}">
                      <a16:colId xmlns:a16="http://schemas.microsoft.com/office/drawing/2014/main" val="3433052147"/>
                    </a:ext>
                  </a:extLst>
                </a:gridCol>
                <a:gridCol w="1035446">
                  <a:extLst>
                    <a:ext uri="{9D8B030D-6E8A-4147-A177-3AD203B41FA5}">
                      <a16:colId xmlns:a16="http://schemas.microsoft.com/office/drawing/2014/main" val="2665525693"/>
                    </a:ext>
                  </a:extLst>
                </a:gridCol>
                <a:gridCol w="1035446">
                  <a:extLst>
                    <a:ext uri="{9D8B030D-6E8A-4147-A177-3AD203B41FA5}">
                      <a16:colId xmlns:a16="http://schemas.microsoft.com/office/drawing/2014/main" val="2837368417"/>
                    </a:ext>
                  </a:extLst>
                </a:gridCol>
                <a:gridCol w="1035446">
                  <a:extLst>
                    <a:ext uri="{9D8B030D-6E8A-4147-A177-3AD203B41FA5}">
                      <a16:colId xmlns:a16="http://schemas.microsoft.com/office/drawing/2014/main" val="1627857914"/>
                    </a:ext>
                  </a:extLst>
                </a:gridCol>
                <a:gridCol w="1035446">
                  <a:extLst>
                    <a:ext uri="{9D8B030D-6E8A-4147-A177-3AD203B41FA5}">
                      <a16:colId xmlns:a16="http://schemas.microsoft.com/office/drawing/2014/main" val="27153843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Значения </a:t>
                      </a:r>
                      <a:r>
                        <a:rPr lang="en-US" sz="2400" b="0" i="1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x</a:t>
                      </a:r>
                      <a:r>
                        <a:rPr lang="ru-RU" sz="2400" b="0" baseline="-25000" dirty="0" smtClean="0"/>
                        <a:t>1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x</a:t>
                      </a:r>
                      <a:r>
                        <a:rPr lang="en-US" sz="2400" b="0" baseline="-25000" dirty="0" smtClean="0"/>
                        <a:t>2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x</a:t>
                      </a:r>
                      <a:r>
                        <a:rPr lang="en-US" sz="2400" b="0" baseline="-25000" dirty="0" smtClean="0"/>
                        <a:t>3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 smtClean="0"/>
                        <a:t>..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x</a:t>
                      </a:r>
                      <a:r>
                        <a:rPr lang="en-US" sz="2400" b="0" baseline="-25000" dirty="0" smtClean="0"/>
                        <a:t>n</a:t>
                      </a:r>
                      <a:endParaRPr lang="ru-RU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21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Вероятность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p</a:t>
                      </a:r>
                      <a:r>
                        <a:rPr lang="ru-RU" sz="2400" b="0" baseline="-25000" dirty="0" smtClean="0"/>
                        <a:t>1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p</a:t>
                      </a:r>
                      <a:r>
                        <a:rPr lang="en-US" sz="2400" b="0" i="0" baseline="-25000" dirty="0" smtClean="0"/>
                        <a:t>2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p</a:t>
                      </a:r>
                      <a:r>
                        <a:rPr lang="en-US" sz="2400" b="0" baseline="-25000" dirty="0" smtClean="0"/>
                        <a:t>3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 smtClean="0"/>
                        <a:t>..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p</a:t>
                      </a:r>
                      <a:r>
                        <a:rPr lang="en-US" sz="2400" b="0" baseline="-25000" dirty="0" smtClean="0"/>
                        <a:t>n</a:t>
                      </a:r>
                      <a:endParaRPr lang="ru-RU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12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87131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1608</Words>
  <Application>Microsoft Office PowerPoint</Application>
  <PresentationFormat>Экран (4:3)</PresentationFormat>
  <Paragraphs>127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Nunito</vt:lpstr>
      <vt:lpstr>PT Sans</vt:lpstr>
      <vt:lpstr>Symbol</vt:lpstr>
      <vt:lpstr>Тема Office</vt:lpstr>
      <vt:lpstr>Случайные величины</vt:lpstr>
      <vt:lpstr>Случайные величины</vt:lpstr>
      <vt:lpstr>Понятие случайной величины</vt:lpstr>
      <vt:lpstr>Понятие случайной величины</vt:lpstr>
      <vt:lpstr>Понятие случайной величины</vt:lpstr>
      <vt:lpstr>Понятие случайной величины</vt:lpstr>
      <vt:lpstr>Индикатор случайного события</vt:lpstr>
      <vt:lpstr>Случайные величины</vt:lpstr>
      <vt:lpstr>Случайные величины</vt:lpstr>
      <vt:lpstr>Случайные величины</vt:lpstr>
      <vt:lpstr>Дискретные случайные величины</vt:lpstr>
      <vt:lpstr>Непрерывные случайные величины</vt:lpstr>
      <vt:lpstr>Пример 1</vt:lpstr>
      <vt:lpstr>Пример 2</vt:lpstr>
      <vt:lpstr>Вопросы</vt:lpstr>
      <vt:lpstr>Упражнения</vt:lpstr>
      <vt:lpstr>Упражнения</vt:lpstr>
      <vt:lpstr>Распределение вероятностей</vt:lpstr>
      <vt:lpstr>Распределение вероятностей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ss</dc:creator>
  <cp:lastModifiedBy>Казанцева Елена Васильевна</cp:lastModifiedBy>
  <cp:revision>62</cp:revision>
  <dcterms:created xsi:type="dcterms:W3CDTF">2026-01-26T09:31:29Z</dcterms:created>
  <dcterms:modified xsi:type="dcterms:W3CDTF">2026-03-18T13:44:24Z</dcterms:modified>
</cp:coreProperties>
</file>